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  <p:sldId id="277" r:id="rId23"/>
    <p:sldId id="283" r:id="rId24"/>
    <p:sldId id="278" r:id="rId25"/>
    <p:sldId id="279" r:id="rId26"/>
    <p:sldId id="284" r:id="rId27"/>
    <p:sldId id="280" r:id="rId28"/>
    <p:sldId id="281" r:id="rId29"/>
    <p:sldId id="282" r:id="rId30"/>
  </p:sldIdLst>
  <p:sldSz cx="9144000" cy="5143500" type="screen16x9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587"/>
    <a:srgbClr val="86C4B9"/>
    <a:srgbClr val="A851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874" y="2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446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986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5380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09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2561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4731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68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8697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45450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933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75350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49AA1-F3EB-4788-A936-F834598C134E}" type="datetimeFigureOut">
              <a:rPr lang="es-MX" smtClean="0"/>
              <a:t>03/02/2026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EC8D-488F-4416-9601-8E2B7A6829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136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pic>
        <p:nvPicPr>
          <p:cNvPr id="10" name="9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771550"/>
            <a:ext cx="3571873" cy="1628774"/>
          </a:xfrm>
          <a:prstGeom prst="rect">
            <a:avLst/>
          </a:prstGeom>
        </p:spPr>
      </p:pic>
      <p:pic>
        <p:nvPicPr>
          <p:cNvPr id="11" name="10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76" y="4046619"/>
            <a:ext cx="690562" cy="685800"/>
          </a:xfrm>
          <a:prstGeom prst="rect">
            <a:avLst/>
          </a:prstGeom>
        </p:spPr>
      </p:pic>
      <p:pic>
        <p:nvPicPr>
          <p:cNvPr id="12" name="11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581" y="4309088"/>
            <a:ext cx="990597" cy="257174"/>
          </a:xfrm>
          <a:prstGeom prst="rect">
            <a:avLst/>
          </a:prstGeom>
        </p:spPr>
      </p:pic>
      <p:pic>
        <p:nvPicPr>
          <p:cNvPr id="13" name="12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745" y="4265265"/>
            <a:ext cx="1624010" cy="4667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1C948D7-4E75-62E4-4065-7E1485E94A57}"/>
              </a:ext>
            </a:extLst>
          </p:cNvPr>
          <p:cNvSpPr txBox="1"/>
          <p:nvPr/>
        </p:nvSpPr>
        <p:spPr>
          <a:xfrm>
            <a:off x="4865279" y="2707592"/>
            <a:ext cx="4216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F6587"/>
                </a:solidFill>
                <a:latin typeface="Montserrat" pitchFamily="2" charset="0"/>
              </a:rPr>
              <a:t>Advancing IVF </a:t>
            </a:r>
            <a:r>
              <a:rPr lang="en-US" sz="1600" i="1" dirty="0">
                <a:solidFill>
                  <a:srgbClr val="0F6587"/>
                </a:solidFill>
                <a:latin typeface="Montserrat" pitchFamily="2" charset="0"/>
              </a:rPr>
              <a:t>(In Vitro </a:t>
            </a:r>
            <a:r>
              <a:rPr lang="en-US" sz="1600" i="1" dirty="0" err="1">
                <a:solidFill>
                  <a:srgbClr val="0F6587"/>
                </a:solidFill>
                <a:latin typeface="Montserrat" pitchFamily="2" charset="0"/>
              </a:rPr>
              <a:t>Fertilisation</a:t>
            </a:r>
            <a:r>
              <a:rPr lang="en-US" sz="1600" i="1" dirty="0">
                <a:solidFill>
                  <a:srgbClr val="0F6587"/>
                </a:solidFill>
                <a:latin typeface="Montserrat" pitchFamily="2" charset="0"/>
              </a:rPr>
              <a:t>) </a:t>
            </a:r>
            <a:endParaRPr lang="en-US" i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dirty="0">
                <a:solidFill>
                  <a:srgbClr val="0F6587"/>
                </a:solidFill>
                <a:latin typeface="Montserrat" pitchFamily="2" charset="0"/>
              </a:rPr>
              <a:t>Success through Genomic Embryo </a:t>
            </a:r>
          </a:p>
          <a:p>
            <a:pPr algn="ctr"/>
            <a:r>
              <a:rPr lang="en-US" dirty="0">
                <a:solidFill>
                  <a:srgbClr val="0F6587"/>
                </a:solidFill>
                <a:latin typeface="Montserrat" pitchFamily="2" charset="0"/>
              </a:rPr>
              <a:t>Development Analysis</a:t>
            </a:r>
            <a:endParaRPr lang="es-MX" dirty="0">
              <a:solidFill>
                <a:srgbClr val="0F6587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892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7494"/>
            <a:ext cx="4214811" cy="555307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E94B5A1-984E-B6C8-E242-D184D48259DF}"/>
              </a:ext>
            </a:extLst>
          </p:cNvPr>
          <p:cNvSpPr txBox="1"/>
          <p:nvPr/>
        </p:nvSpPr>
        <p:spPr>
          <a:xfrm>
            <a:off x="467544" y="1419622"/>
            <a:ext cx="4032448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F6587"/>
                </a:solidFill>
                <a:latin typeface="Montserrat" pitchFamily="2" charset="0"/>
              </a:rPr>
              <a:t>Portrait of Our End User</a:t>
            </a:r>
          </a:p>
          <a:p>
            <a:endParaRPr lang="en-US" sz="1600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n-US" sz="1600" dirty="0">
                <a:solidFill>
                  <a:srgbClr val="0F6587"/>
                </a:solidFill>
                <a:latin typeface="Montserrat" pitchFamily="2" charset="0"/>
              </a:rPr>
              <a:t>Elizabeth: 40 years old, </a:t>
            </a:r>
          </a:p>
          <a:p>
            <a:r>
              <a:rPr lang="en-US" sz="1600" dirty="0">
                <a:solidFill>
                  <a:srgbClr val="0F6587"/>
                </a:solidFill>
                <a:latin typeface="Montserrat" pitchFamily="2" charset="0"/>
              </a:rPr>
              <a:t>4 failed IVF transfers.</a:t>
            </a:r>
          </a:p>
          <a:p>
            <a:endParaRPr lang="en-US" sz="1600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n-US" sz="1600" i="1" dirty="0">
                <a:solidFill>
                  <a:srgbClr val="0F6587"/>
                </a:solidFill>
                <a:latin typeface="Montserrat" pitchFamily="2" charset="0"/>
              </a:rPr>
              <a:t>"I see fantastic science news </a:t>
            </a:r>
          </a:p>
          <a:p>
            <a:r>
              <a:rPr lang="en-US" sz="1600" i="1" dirty="0">
                <a:solidFill>
                  <a:srgbClr val="0F6587"/>
                </a:solidFill>
                <a:latin typeface="Montserrat" pitchFamily="2" charset="0"/>
              </a:rPr>
              <a:t>every day, but I can't just get </a:t>
            </a:r>
          </a:p>
          <a:p>
            <a:r>
              <a:rPr lang="en-US" sz="1600" i="1" dirty="0">
                <a:solidFill>
                  <a:srgbClr val="0F6587"/>
                </a:solidFill>
                <a:latin typeface="Montserrat" pitchFamily="2" charset="0"/>
              </a:rPr>
              <a:t>a baby...”</a:t>
            </a:r>
          </a:p>
          <a:p>
            <a:endParaRPr lang="en-US" sz="1600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n-US" sz="1600" b="1" dirty="0">
                <a:solidFill>
                  <a:srgbClr val="0F6587"/>
                </a:solidFill>
                <a:latin typeface="Montserrat" pitchFamily="2" charset="0"/>
              </a:rPr>
              <a:t>Millions of women are </a:t>
            </a:r>
          </a:p>
          <a:p>
            <a:r>
              <a:rPr lang="en-US" sz="1600" b="1" dirty="0">
                <a:solidFill>
                  <a:srgbClr val="0F6587"/>
                </a:solidFill>
                <a:latin typeface="Montserrat" pitchFamily="2" charset="0"/>
              </a:rPr>
              <a:t>like Elizabeth.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7494"/>
            <a:ext cx="4214811" cy="5553073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2139702"/>
            <a:ext cx="1220859" cy="121653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878FABB-FB4A-0DBC-9F29-D94CB3D0759A}"/>
              </a:ext>
            </a:extLst>
          </p:cNvPr>
          <p:cNvSpPr txBox="1"/>
          <p:nvPr/>
        </p:nvSpPr>
        <p:spPr>
          <a:xfrm>
            <a:off x="467544" y="1563638"/>
            <a:ext cx="244827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>
                <a:solidFill>
                  <a:srgbClr val="0F6587"/>
                </a:solidFill>
                <a:latin typeface="Montserrat" pitchFamily="2" charset="0"/>
              </a:rPr>
              <a:t>Problem</a:t>
            </a:r>
            <a:endParaRPr lang="es-MX" sz="2800" b="1" dirty="0">
              <a:solidFill>
                <a:srgbClr val="0F6587"/>
              </a:solidFill>
              <a:latin typeface="Montserrat" pitchFamily="2" charset="0"/>
            </a:endParaRPr>
          </a:p>
          <a:p>
            <a:endParaRPr lang="es-MX" sz="1400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Even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top IVF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clinics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require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2–3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embryo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transfers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to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achieve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a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live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birth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,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resulting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in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significant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time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delay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and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emotional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rgbClr val="0F6587"/>
                </a:solidFill>
                <a:latin typeface="Montserrat" pitchFamily="2" charset="0"/>
              </a:rPr>
              <a:t>burden</a:t>
            </a:r>
            <a:r>
              <a:rPr lang="es-MX" sz="1400" b="1" dirty="0">
                <a:solidFill>
                  <a:srgbClr val="0F6587"/>
                </a:solidFill>
                <a:latin typeface="Montserrat" pitchFamily="2" charset="0"/>
              </a:rPr>
              <a:t>.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Objective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biomarkers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for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embryo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implantation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potential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are </a:t>
            </a:r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needed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220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267494"/>
            <a:ext cx="4214811" cy="5553073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518" y="1648226"/>
            <a:ext cx="1129625" cy="115212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E38715C-6E7E-4D88-A672-57FE6941CC97}"/>
              </a:ext>
            </a:extLst>
          </p:cNvPr>
          <p:cNvSpPr txBox="1"/>
          <p:nvPr/>
        </p:nvSpPr>
        <p:spPr>
          <a:xfrm>
            <a:off x="326976" y="1707654"/>
            <a:ext cx="2588840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 err="1">
                <a:solidFill>
                  <a:srgbClr val="0F6587"/>
                </a:solidFill>
                <a:latin typeface="Montserrat" pitchFamily="2" charset="0"/>
              </a:rPr>
              <a:t>Infertility</a:t>
            </a:r>
            <a:r>
              <a:rPr lang="es-MX" sz="24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r>
              <a:rPr lang="es-MX" sz="2400" b="1" dirty="0">
                <a:solidFill>
                  <a:srgbClr val="0F6587"/>
                </a:solidFill>
                <a:latin typeface="Montserrat" pitchFamily="2" charset="0"/>
              </a:rPr>
              <a:t>(1 in 6 </a:t>
            </a:r>
            <a:r>
              <a:rPr lang="es-MX" sz="2400" b="1" dirty="0" err="1">
                <a:solidFill>
                  <a:srgbClr val="0F6587"/>
                </a:solidFill>
                <a:latin typeface="Montserrat" pitchFamily="2" charset="0"/>
              </a:rPr>
              <a:t>couples</a:t>
            </a:r>
            <a:r>
              <a:rPr lang="es-MX" sz="24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endParaRPr lang="en-US" sz="1600" b="1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n-US" sz="1400" b="1" dirty="0">
                <a:solidFill>
                  <a:srgbClr val="0F6587"/>
                </a:solidFill>
                <a:latin typeface="Montserrat" pitchFamily="2" charset="0"/>
              </a:rPr>
              <a:t>IN VITRO FERTILISATION (IVF) </a:t>
            </a:r>
            <a:r>
              <a:rPr lang="en-US" sz="1400" dirty="0">
                <a:solidFill>
                  <a:srgbClr val="0F6587"/>
                </a:solidFill>
                <a:latin typeface="Montserrat" pitchFamily="2" charset="0"/>
              </a:rPr>
              <a:t>is a common solution (</a:t>
            </a:r>
            <a:r>
              <a:rPr lang="en-US" sz="1400" b="1" dirty="0">
                <a:solidFill>
                  <a:srgbClr val="0F6587"/>
                </a:solidFill>
                <a:latin typeface="Montserrat" pitchFamily="2" charset="0"/>
              </a:rPr>
              <a:t>10%</a:t>
            </a:r>
            <a:r>
              <a:rPr lang="en-US" sz="1400" dirty="0">
                <a:solidFill>
                  <a:srgbClr val="0F6587"/>
                </a:solidFill>
                <a:latin typeface="Montserrat" pitchFamily="2" charset="0"/>
              </a:rPr>
              <a:t> of newborns), but it IS </a:t>
            </a:r>
            <a:r>
              <a:rPr lang="en-US" sz="1400" b="1" dirty="0">
                <a:solidFill>
                  <a:srgbClr val="0F6587"/>
                </a:solidFill>
                <a:latin typeface="Montserrat" pitchFamily="2" charset="0"/>
              </a:rPr>
              <a:t>SUBOPTIMAL:</a:t>
            </a:r>
            <a:r>
              <a:rPr lang="en-US" sz="1400" dirty="0">
                <a:solidFill>
                  <a:srgbClr val="0F6587"/>
                </a:solidFill>
                <a:latin typeface="Montserrat" pitchFamily="2" charset="0"/>
              </a:rPr>
              <a:t> low (</a:t>
            </a:r>
            <a:r>
              <a:rPr lang="en-US" sz="1400" b="1" dirty="0">
                <a:solidFill>
                  <a:srgbClr val="0F6587"/>
                </a:solidFill>
                <a:latin typeface="Montserrat" pitchFamily="2" charset="0"/>
              </a:rPr>
              <a:t>40%</a:t>
            </a:r>
            <a:r>
              <a:rPr lang="en-US" sz="1400" dirty="0">
                <a:solidFill>
                  <a:srgbClr val="0F6587"/>
                </a:solidFill>
                <a:latin typeface="Montserrat" pitchFamily="2" charset="0"/>
              </a:rPr>
              <a:t>) success rate</a:t>
            </a:r>
            <a:endParaRPr lang="es-MX" sz="1400" dirty="0">
              <a:solidFill>
                <a:srgbClr val="0F6587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259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" y="-1"/>
            <a:ext cx="9144000" cy="5143501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49" y="4731990"/>
            <a:ext cx="8343901" cy="57150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66614"/>
            <a:ext cx="1343026" cy="1566864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486" y="1866614"/>
            <a:ext cx="1343026" cy="1566864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382" y="1866614"/>
            <a:ext cx="1343026" cy="15668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8815291-3FF6-3BC0-5926-E7F219AE4228}"/>
              </a:ext>
            </a:extLst>
          </p:cNvPr>
          <p:cNvSpPr txBox="1"/>
          <p:nvPr/>
        </p:nvSpPr>
        <p:spPr>
          <a:xfrm>
            <a:off x="598997" y="3509595"/>
            <a:ext cx="1944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Better</a:t>
            </a:r>
            <a:r>
              <a:rPr lang="es-MX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embryo</a:t>
            </a:r>
            <a:r>
              <a:rPr lang="es-MX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biomarkers</a:t>
            </a:r>
            <a:r>
              <a:rPr lang="es-MX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36AF57-637B-2AEC-90C3-5917E37BF7CC}"/>
              </a:ext>
            </a:extLst>
          </p:cNvPr>
          <p:cNvSpPr txBox="1"/>
          <p:nvPr/>
        </p:nvSpPr>
        <p:spPr>
          <a:xfrm>
            <a:off x="3599891" y="3509595"/>
            <a:ext cx="1944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Fewer</a:t>
            </a:r>
            <a:r>
              <a:rPr lang="es-MX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transfers</a:t>
            </a:r>
            <a:endParaRPr lang="es-MX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A01D5D-AA8B-8B9E-739A-0BCD33B97259}"/>
              </a:ext>
            </a:extLst>
          </p:cNvPr>
          <p:cNvSpPr txBox="1"/>
          <p:nvPr/>
        </p:nvSpPr>
        <p:spPr>
          <a:xfrm>
            <a:off x="6600785" y="3509595"/>
            <a:ext cx="19442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Faster</a:t>
            </a:r>
            <a:r>
              <a:rPr lang="es-MX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dirty="0" err="1">
                <a:solidFill>
                  <a:srgbClr val="0F6587"/>
                </a:solidFill>
                <a:latin typeface="Montserrat" pitchFamily="2" charset="0"/>
              </a:rPr>
              <a:t>pregnancy</a:t>
            </a:r>
            <a:r>
              <a:rPr lang="es-MX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E4C1ED4-8B8D-FAAF-09E7-D26A7F940875}"/>
              </a:ext>
            </a:extLst>
          </p:cNvPr>
          <p:cNvSpPr txBox="1"/>
          <p:nvPr/>
        </p:nvSpPr>
        <p:spPr>
          <a:xfrm>
            <a:off x="2270969" y="1074857"/>
            <a:ext cx="4633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 err="1">
                <a:solidFill>
                  <a:srgbClr val="0F6587"/>
                </a:solidFill>
                <a:latin typeface="Montserrat" pitchFamily="2" charset="0"/>
              </a:rPr>
              <a:t>Opportunity</a:t>
            </a:r>
            <a:r>
              <a:rPr lang="es-MX" sz="28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2800" b="1" dirty="0" err="1">
                <a:solidFill>
                  <a:srgbClr val="0F6587"/>
                </a:solidFill>
                <a:latin typeface="Montserrat" pitchFamily="2" charset="0"/>
              </a:rPr>
              <a:t>is</a:t>
            </a:r>
            <a:r>
              <a:rPr lang="es-MX" sz="2800" b="1" dirty="0">
                <a:solidFill>
                  <a:srgbClr val="0F6587"/>
                </a:solidFill>
                <a:latin typeface="Montserrat" pitchFamily="2" charset="0"/>
              </a:rPr>
              <a:t> open </a:t>
            </a:r>
          </a:p>
        </p:txBody>
      </p:sp>
    </p:spTree>
    <p:extLst>
      <p:ext uri="{BB962C8B-B14F-4D97-AF65-F5344CB8AC3E}">
        <p14:creationId xmlns:p14="http://schemas.microsoft.com/office/powerpoint/2010/main" val="40165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3619"/>
            <a:ext cx="2879098" cy="803670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F0B6DA-A7A2-06D7-E0C3-A2A805090EE8}"/>
              </a:ext>
            </a:extLst>
          </p:cNvPr>
          <p:cNvSpPr txBox="1"/>
          <p:nvPr/>
        </p:nvSpPr>
        <p:spPr>
          <a:xfrm>
            <a:off x="449081" y="1851670"/>
            <a:ext cx="4572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 err="1">
                <a:solidFill>
                  <a:srgbClr val="0F6587"/>
                </a:solidFill>
                <a:latin typeface="Montserrat" pitchFamily="2" charset="0"/>
              </a:rPr>
              <a:t>We</a:t>
            </a:r>
            <a:r>
              <a:rPr lang="es-MX" sz="32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3200" dirty="0" err="1">
                <a:solidFill>
                  <a:srgbClr val="0F6587"/>
                </a:solidFill>
                <a:latin typeface="Montserrat" pitchFamily="2" charset="0"/>
              </a:rPr>
              <a:t>help</a:t>
            </a:r>
            <a:r>
              <a:rPr lang="es-MX" sz="32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3200" b="1" dirty="0" err="1">
                <a:solidFill>
                  <a:srgbClr val="0F6587"/>
                </a:solidFill>
                <a:latin typeface="Montserrat" pitchFamily="2" charset="0"/>
              </a:rPr>
              <a:t>women</a:t>
            </a:r>
            <a:endParaRPr lang="es-MX" sz="3200" b="1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s-MX" sz="3200" b="1" dirty="0" err="1">
                <a:solidFill>
                  <a:srgbClr val="0F6587"/>
                </a:solidFill>
                <a:latin typeface="Montserrat" pitchFamily="2" charset="0"/>
              </a:rPr>
              <a:t>get</a:t>
            </a:r>
            <a:r>
              <a:rPr lang="es-MX" sz="32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3200" b="1" dirty="0" err="1">
                <a:solidFill>
                  <a:srgbClr val="0F6587"/>
                </a:solidFill>
                <a:latin typeface="Montserrat" pitchFamily="2" charset="0"/>
              </a:rPr>
              <a:t>pregnant</a:t>
            </a:r>
            <a:r>
              <a:rPr lang="es-MX" sz="32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r>
              <a:rPr lang="es-MX" sz="4400" b="1" i="1" dirty="0" err="1">
                <a:solidFill>
                  <a:srgbClr val="0F6587"/>
                </a:solidFill>
                <a:latin typeface="Montserrat" pitchFamily="2" charset="0"/>
              </a:rPr>
              <a:t>faster</a:t>
            </a:r>
            <a:endParaRPr lang="es-MX" sz="4400" b="1" i="1" dirty="0">
              <a:solidFill>
                <a:srgbClr val="0F6587"/>
              </a:solidFill>
              <a:latin typeface="Montserrat" pitchFamily="2" charset="0"/>
            </a:endParaRPr>
          </a:p>
          <a:p>
            <a:endParaRPr lang="es-MX" b="1" dirty="0">
              <a:latin typeface="Montserrat" pitchFamily="2" charset="0"/>
            </a:endParaRPr>
          </a:p>
          <a:p>
            <a:r>
              <a:rPr lang="en-US" dirty="0">
                <a:solidFill>
                  <a:srgbClr val="0F6587"/>
                </a:solidFill>
                <a:latin typeface="Montserrat" pitchFamily="2" charset="0"/>
              </a:rPr>
              <a:t>by advancing IVF success rate </a:t>
            </a:r>
            <a:endParaRPr lang="es-MX" dirty="0">
              <a:solidFill>
                <a:srgbClr val="0F6587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013" y="1059581"/>
            <a:ext cx="3767138" cy="352901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B97A043-488B-2B01-D36B-5364E15FFFAD}"/>
              </a:ext>
            </a:extLst>
          </p:cNvPr>
          <p:cNvSpPr txBox="1"/>
          <p:nvPr/>
        </p:nvSpPr>
        <p:spPr>
          <a:xfrm>
            <a:off x="395536" y="1131590"/>
            <a:ext cx="39604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 err="1">
                <a:solidFill>
                  <a:schemeClr val="bg1"/>
                </a:solidFill>
                <a:latin typeface="Montserrat" pitchFamily="2" charset="0"/>
              </a:rPr>
              <a:t>Solution</a:t>
            </a:r>
            <a:endParaRPr lang="es-MX" sz="3200" b="1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PGT-A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(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Preimplantation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Genetic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Testing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for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Aneuploidy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) —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the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global standard —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classifies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embryos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as 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"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recommended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"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or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"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not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recommended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"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for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transfer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based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chromosome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count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alone.</a:t>
            </a: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CellKinetica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enhances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this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decision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: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using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existing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PGT-A data,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we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provide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high-resolution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genomic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screening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platform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to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help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embryologists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prioritize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embryos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with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high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implantation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potential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11510"/>
            <a:ext cx="3648078" cy="82391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10C9361-68DE-E373-D78C-C8370F1B9393}"/>
              </a:ext>
            </a:extLst>
          </p:cNvPr>
          <p:cNvSpPr txBox="1"/>
          <p:nvPr/>
        </p:nvSpPr>
        <p:spPr>
          <a:xfrm>
            <a:off x="467544" y="1971585"/>
            <a:ext cx="38164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Development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potential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- </a:t>
            </a:r>
          </a:p>
          <a:p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based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ranking </a:t>
            </a:r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of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recommended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embryos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by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implantation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potential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50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55526"/>
            <a:ext cx="3024188" cy="330517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6728201-BC52-283D-8CDA-9A176E43A033}"/>
              </a:ext>
            </a:extLst>
          </p:cNvPr>
          <p:cNvSpPr txBox="1"/>
          <p:nvPr/>
        </p:nvSpPr>
        <p:spPr>
          <a:xfrm>
            <a:off x="107504" y="843558"/>
            <a:ext cx="4572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 err="1">
                <a:solidFill>
                  <a:srgbClr val="A8518A"/>
                </a:solidFill>
                <a:latin typeface="Montserrat" pitchFamily="2" charset="0"/>
              </a:rPr>
              <a:t>With</a:t>
            </a:r>
            <a:endParaRPr lang="es-MX" sz="2800" b="1" dirty="0">
              <a:solidFill>
                <a:srgbClr val="A8518A"/>
              </a:solidFill>
              <a:latin typeface="Montserrat" pitchFamily="2" charset="0"/>
            </a:endParaRPr>
          </a:p>
          <a:p>
            <a:pPr algn="ctr"/>
            <a:r>
              <a:rPr lang="es-MX" sz="4400" dirty="0" err="1">
                <a:solidFill>
                  <a:srgbClr val="A8518A"/>
                </a:solidFill>
                <a:latin typeface="Montserrat" pitchFamily="2" charset="0"/>
              </a:rPr>
              <a:t>CellKinetica</a:t>
            </a:r>
            <a:endParaRPr lang="es-MX" sz="4400" dirty="0">
              <a:solidFill>
                <a:srgbClr val="A8518A"/>
              </a:solidFill>
              <a:latin typeface="Montserrat" pitchFamily="2" charset="0"/>
            </a:endParaRPr>
          </a:p>
          <a:p>
            <a:pPr algn="ctr"/>
            <a:r>
              <a:rPr lang="es-MX" sz="7200" b="1" dirty="0">
                <a:solidFill>
                  <a:srgbClr val="A8518A"/>
                </a:solidFill>
                <a:latin typeface="Montserrat" pitchFamily="2" charset="0"/>
              </a:rPr>
              <a:t>44%</a:t>
            </a:r>
          </a:p>
          <a:p>
            <a:pPr algn="ctr"/>
            <a:r>
              <a:rPr lang="es-MX" sz="2000" b="1" dirty="0" err="1">
                <a:solidFill>
                  <a:srgbClr val="A8518A"/>
                </a:solidFill>
                <a:latin typeface="Montserrat" pitchFamily="2" charset="0"/>
              </a:rPr>
              <a:t>Of</a:t>
            </a:r>
            <a:r>
              <a:rPr lang="es-MX" sz="20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A8518A"/>
                </a:solidFill>
                <a:latin typeface="Montserrat" pitchFamily="2" charset="0"/>
              </a:rPr>
              <a:t>women</a:t>
            </a:r>
            <a:r>
              <a:rPr lang="es-MX" sz="20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A8518A"/>
                </a:solidFill>
                <a:latin typeface="Montserrat" pitchFamily="2" charset="0"/>
              </a:rPr>
              <a:t>with</a:t>
            </a:r>
            <a:r>
              <a:rPr lang="es-MX" sz="2000" b="1" dirty="0">
                <a:solidFill>
                  <a:srgbClr val="A8518A"/>
                </a:solidFill>
                <a:latin typeface="Montserrat" pitchFamily="2" charset="0"/>
              </a:rPr>
              <a:t> IVT </a:t>
            </a:r>
            <a:r>
              <a:rPr lang="es-MX" sz="2000" b="1" dirty="0" err="1">
                <a:solidFill>
                  <a:srgbClr val="A8518A"/>
                </a:solidFill>
                <a:latin typeface="Montserrat" pitchFamily="2" charset="0"/>
              </a:rPr>
              <a:t>failures</a:t>
            </a:r>
            <a:endParaRPr lang="es-MX" sz="2000" b="1" dirty="0">
              <a:solidFill>
                <a:srgbClr val="A8518A"/>
              </a:solidFill>
              <a:latin typeface="Montserrat" pitchFamily="2" charset="0"/>
            </a:endParaRPr>
          </a:p>
          <a:p>
            <a:pPr algn="ctr"/>
            <a:r>
              <a:rPr lang="es-MX" sz="2000" b="1" dirty="0" err="1">
                <a:solidFill>
                  <a:srgbClr val="A8518A"/>
                </a:solidFill>
                <a:latin typeface="Montserrat" pitchFamily="2" charset="0"/>
              </a:rPr>
              <a:t>Would</a:t>
            </a:r>
            <a:r>
              <a:rPr lang="es-MX" sz="2000" b="1" dirty="0">
                <a:solidFill>
                  <a:srgbClr val="A8518A"/>
                </a:solidFill>
                <a:latin typeface="Montserrat" pitchFamily="2" charset="0"/>
              </a:rPr>
              <a:t> be </a:t>
            </a:r>
            <a:r>
              <a:rPr lang="es-MX" sz="2000" b="1" dirty="0" err="1">
                <a:solidFill>
                  <a:srgbClr val="A8518A"/>
                </a:solidFill>
                <a:latin typeface="Montserrat" pitchFamily="2" charset="0"/>
              </a:rPr>
              <a:t>preented</a:t>
            </a:r>
            <a:endParaRPr lang="es-MX" sz="2000" b="1" dirty="0">
              <a:solidFill>
                <a:srgbClr val="A8518A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68"/>
            <a:ext cx="9144000" cy="5143501"/>
          </a:xfrm>
          <a:prstGeom prst="rect">
            <a:avLst/>
          </a:prstGeom>
        </p:spPr>
      </p:pic>
      <p:pic>
        <p:nvPicPr>
          <p:cNvPr id="2" name="1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5" y="555526"/>
            <a:ext cx="3303687" cy="45681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1C4E8F8-FA89-D6BE-22E1-BF9C16344506}"/>
              </a:ext>
            </a:extLst>
          </p:cNvPr>
          <p:cNvSpPr txBox="1"/>
          <p:nvPr/>
        </p:nvSpPr>
        <p:spPr>
          <a:xfrm>
            <a:off x="5724128" y="260305"/>
            <a:ext cx="322210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800" b="1" dirty="0" err="1">
                <a:solidFill>
                  <a:srgbClr val="A8518A"/>
                </a:solidFill>
                <a:latin typeface="Montserrat" pitchFamily="2" charset="0"/>
              </a:rPr>
              <a:t>Validation</a:t>
            </a:r>
            <a:r>
              <a:rPr lang="es-MX" sz="28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800" b="1" dirty="0" err="1">
                <a:solidFill>
                  <a:srgbClr val="A8518A"/>
                </a:solidFill>
                <a:latin typeface="Montserrat" pitchFamily="2" charset="0"/>
              </a:rPr>
              <a:t>on</a:t>
            </a:r>
            <a:r>
              <a:rPr lang="es-MX" sz="28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9600" b="1" dirty="0">
                <a:solidFill>
                  <a:srgbClr val="A8518A"/>
                </a:solidFill>
                <a:latin typeface="Montserrat" pitchFamily="2" charset="0"/>
              </a:rPr>
              <a:t>539</a:t>
            </a:r>
          </a:p>
          <a:p>
            <a:pPr algn="ctr"/>
            <a:r>
              <a:rPr lang="es-MX" sz="3200" b="1" dirty="0">
                <a:solidFill>
                  <a:srgbClr val="A8518A"/>
                </a:solidFill>
                <a:latin typeface="Montserrat" pitchFamily="2" charset="0"/>
              </a:rPr>
              <a:t>real </a:t>
            </a:r>
            <a:r>
              <a:rPr lang="es-MX" sz="3200" b="1" dirty="0" err="1">
                <a:solidFill>
                  <a:srgbClr val="A8518A"/>
                </a:solidFill>
                <a:latin typeface="Montserrat" pitchFamily="2" charset="0"/>
              </a:rPr>
              <a:t>world</a:t>
            </a:r>
            <a:endParaRPr lang="es-MX" sz="3200" b="1" dirty="0">
              <a:solidFill>
                <a:srgbClr val="A8518A"/>
              </a:solidFill>
              <a:latin typeface="Montserrat" pitchFamily="2" charset="0"/>
            </a:endParaRPr>
          </a:p>
          <a:p>
            <a:pPr algn="ctr"/>
            <a:r>
              <a:rPr lang="es-MX" sz="3200" b="1" dirty="0" err="1">
                <a:solidFill>
                  <a:srgbClr val="A8518A"/>
                </a:solidFill>
                <a:latin typeface="Montserrat" pitchFamily="2" charset="0"/>
              </a:rPr>
              <a:t>live-births</a:t>
            </a:r>
            <a:r>
              <a:rPr lang="es-MX" sz="3200" b="1" dirty="0">
                <a:solidFill>
                  <a:srgbClr val="A8518A"/>
                </a:solidFill>
                <a:latin typeface="Montserrat" pitchFamily="2" charset="0"/>
              </a:rPr>
              <a:t>:</a:t>
            </a:r>
          </a:p>
          <a:p>
            <a:pPr algn="ctr"/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n-US" b="1" dirty="0">
                <a:solidFill>
                  <a:srgbClr val="A8518A"/>
                </a:solidFill>
                <a:latin typeface="Montserrat" pitchFamily="2" charset="0"/>
              </a:rPr>
              <a:t>44% (45 out of 102) </a:t>
            </a:r>
          </a:p>
          <a:p>
            <a:pPr algn="ctr"/>
            <a:r>
              <a:rPr lang="en-US" dirty="0">
                <a:solidFill>
                  <a:srgbClr val="A8518A"/>
                </a:solidFill>
                <a:latin typeface="Montserrat" pitchFamily="2" charset="0"/>
              </a:rPr>
              <a:t>of women with IVF </a:t>
            </a:r>
          </a:p>
          <a:p>
            <a:pPr algn="ctr"/>
            <a:r>
              <a:rPr lang="en-US" dirty="0">
                <a:solidFill>
                  <a:srgbClr val="A8518A"/>
                </a:solidFill>
                <a:latin typeface="Montserrat" pitchFamily="2" charset="0"/>
              </a:rPr>
              <a:t>failures would have </a:t>
            </a:r>
          </a:p>
          <a:p>
            <a:pPr algn="ctr"/>
            <a:r>
              <a:rPr lang="en-US" dirty="0">
                <a:solidFill>
                  <a:srgbClr val="A8518A"/>
                </a:solidFill>
                <a:latin typeface="Montserrat" pitchFamily="2" charset="0"/>
              </a:rPr>
              <a:t>conceived at least </a:t>
            </a:r>
          </a:p>
          <a:p>
            <a:pPr algn="ctr"/>
            <a:r>
              <a:rPr lang="en-US" dirty="0">
                <a:solidFill>
                  <a:srgbClr val="A8518A"/>
                </a:solidFill>
                <a:latin typeface="Montserrat" pitchFamily="2" charset="0"/>
              </a:rPr>
              <a:t>one cycle faster.</a:t>
            </a:r>
            <a:endParaRPr lang="es-MX" dirty="0">
              <a:solidFill>
                <a:srgbClr val="A8518A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75535"/>
            <a:ext cx="3633788" cy="4791075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736" y="504912"/>
            <a:ext cx="3835126" cy="3163180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456" y="2164656"/>
            <a:ext cx="1824032" cy="119062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3295" y="2625452"/>
            <a:ext cx="1314450" cy="131445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0CD536B-0FF3-9506-BD84-B7A3C5C75BBD}"/>
              </a:ext>
            </a:extLst>
          </p:cNvPr>
          <p:cNvSpPr txBox="1"/>
          <p:nvPr/>
        </p:nvSpPr>
        <p:spPr>
          <a:xfrm>
            <a:off x="7357786" y="1308705"/>
            <a:ext cx="17819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Elizabeth and </a:t>
            </a:r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her</a:t>
            </a:r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child</a:t>
            </a:r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might</a:t>
            </a:r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 </a:t>
            </a:r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have</a:t>
            </a:r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met</a:t>
            </a:r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3 </a:t>
            </a:r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transfers</a:t>
            </a:r>
            <a:r>
              <a:rPr lang="es-MX" sz="12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1200" b="1" dirty="0" err="1">
                <a:solidFill>
                  <a:srgbClr val="A8518A"/>
                </a:solidFill>
                <a:latin typeface="Montserrat" pitchFamily="2" charset="0"/>
              </a:rPr>
              <a:t>earlier</a:t>
            </a:r>
            <a:endParaRPr lang="es-MX" sz="1200" b="1" dirty="0">
              <a:solidFill>
                <a:srgbClr val="A8518A"/>
              </a:solidFill>
              <a:latin typeface="Montserrat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236F6C-F985-854C-562D-B38881CC6F8C}"/>
              </a:ext>
            </a:extLst>
          </p:cNvPr>
          <p:cNvSpPr txBox="1"/>
          <p:nvPr/>
        </p:nvSpPr>
        <p:spPr>
          <a:xfrm>
            <a:off x="5148064" y="3914964"/>
            <a:ext cx="39604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A8518A"/>
                </a:solidFill>
                <a:latin typeface="Montserrat" pitchFamily="2" charset="0"/>
              </a:rPr>
              <a:t>If </a:t>
            </a:r>
            <a:r>
              <a:rPr lang="en-US" sz="1200" b="1" dirty="0" err="1">
                <a:solidFill>
                  <a:srgbClr val="A8518A"/>
                </a:solidFill>
                <a:latin typeface="Montserrat" pitchFamily="2" charset="0"/>
              </a:rPr>
              <a:t>CellKinetica</a:t>
            </a:r>
            <a:r>
              <a:rPr lang="en-US" sz="1200" b="1" dirty="0">
                <a:solidFill>
                  <a:srgbClr val="A8518A"/>
                </a:solidFill>
                <a:latin typeface="Montserrat" pitchFamily="2" charset="0"/>
              </a:rPr>
              <a:t> had guided embryo </a:t>
            </a:r>
          </a:p>
          <a:p>
            <a:pPr algn="ctr"/>
            <a:r>
              <a:rPr lang="en-US" sz="1200" b="1" dirty="0">
                <a:solidFill>
                  <a:srgbClr val="A8518A"/>
                </a:solidFill>
                <a:latin typeface="Montserrat" pitchFamily="2" charset="0"/>
              </a:rPr>
              <a:t>selection, these 31 women would </a:t>
            </a:r>
          </a:p>
          <a:p>
            <a:pPr algn="ctr"/>
            <a:r>
              <a:rPr lang="en-US" sz="1200" b="1" dirty="0">
                <a:solidFill>
                  <a:srgbClr val="A8518A"/>
                </a:solidFill>
                <a:latin typeface="Montserrat" pitchFamily="2" charset="0"/>
              </a:rPr>
              <a:t>have achieved pregnancy after the </a:t>
            </a:r>
          </a:p>
          <a:p>
            <a:pPr algn="ctr"/>
            <a:r>
              <a:rPr lang="en-US" sz="1200" b="1" dirty="0">
                <a:solidFill>
                  <a:srgbClr val="A8518A"/>
                </a:solidFill>
                <a:latin typeface="Montserrat" pitchFamily="2" charset="0"/>
              </a:rPr>
              <a:t>first transfer instead of the second.</a:t>
            </a:r>
            <a:endParaRPr lang="es-MX" sz="1200" b="1" dirty="0">
              <a:solidFill>
                <a:srgbClr val="A8518A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144001" cy="5143501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14"/>
          <a:stretch>
            <a:fillRect/>
          </a:stretch>
        </p:blipFill>
        <p:spPr>
          <a:xfrm>
            <a:off x="1547664" y="659646"/>
            <a:ext cx="4075927" cy="4483854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25" y="411510"/>
            <a:ext cx="1500188" cy="1500188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242" y="411510"/>
            <a:ext cx="1500188" cy="1500188"/>
          </a:xfrm>
          <a:prstGeom prst="rect">
            <a:avLst/>
          </a:prstGeom>
        </p:spPr>
      </p:pic>
      <p:pic>
        <p:nvPicPr>
          <p:cNvPr id="6" name="5 Imagen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179" y="3363838"/>
            <a:ext cx="128588" cy="1476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E030ABC-9EB3-C743-7BA5-31ED928AF8A5}"/>
              </a:ext>
            </a:extLst>
          </p:cNvPr>
          <p:cNvSpPr txBox="1"/>
          <p:nvPr/>
        </p:nvSpPr>
        <p:spPr>
          <a:xfrm>
            <a:off x="5292080" y="2143006"/>
            <a:ext cx="38884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Trained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on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400" b="1" dirty="0">
                <a:solidFill>
                  <a:srgbClr val="0F6587"/>
                </a:solidFill>
                <a:latin typeface="Montserrat" pitchFamily="2" charset="0"/>
              </a:rPr>
              <a:t>30,000</a:t>
            </a:r>
          </a:p>
          <a:p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embryo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genomes</a:t>
            </a:r>
            <a:endParaRPr lang="es-MX" sz="2400" b="1" dirty="0">
              <a:solidFill>
                <a:srgbClr val="A8518A"/>
              </a:solidFill>
              <a:latin typeface="Montserrat" pitchFamily="2" charset="0"/>
            </a:endParaRPr>
          </a:p>
          <a:p>
            <a:endParaRPr lang="es-MX" sz="2400" b="1" dirty="0">
              <a:solidFill>
                <a:srgbClr val="A8518A"/>
              </a:solidFill>
              <a:latin typeface="Montserrat" pitchFamily="2" charset="0"/>
            </a:endParaRPr>
          </a:p>
          <a:p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Validated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on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400" b="1" dirty="0">
                <a:solidFill>
                  <a:srgbClr val="0F6587"/>
                </a:solidFill>
                <a:latin typeface="Montserrat" pitchFamily="2" charset="0"/>
              </a:rPr>
              <a:t>539 </a:t>
            </a:r>
          </a:p>
          <a:p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live-birth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  <a:r>
              <a:rPr lang="es-MX" sz="2400" b="1" dirty="0" err="1">
                <a:solidFill>
                  <a:srgbClr val="A8518A"/>
                </a:solidFill>
                <a:latin typeface="Montserrat" pitchFamily="2" charset="0"/>
              </a:rPr>
              <a:t>pregnancies</a:t>
            </a:r>
            <a:r>
              <a:rPr lang="es-MX" sz="2400" b="1" dirty="0">
                <a:solidFill>
                  <a:srgbClr val="A8518A"/>
                </a:solidFill>
                <a:latin typeface="Montserrat" pitchFamily="2" charset="0"/>
              </a:rPr>
              <a:t> </a:t>
            </a:r>
          </a:p>
        </p:txBody>
      </p:sp>
      <p:pic>
        <p:nvPicPr>
          <p:cNvPr id="9" name="5 Imagen">
            <a:extLst>
              <a:ext uri="{FF2B5EF4-FFF2-40B4-BE49-F238E27FC236}">
                <a16:creationId xmlns:a16="http://schemas.microsoft.com/office/drawing/2014/main" id="{3C59AE01-474D-3941-6E84-D3EB186E69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179" y="2308416"/>
            <a:ext cx="128588" cy="14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2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885" y="1117629"/>
            <a:ext cx="6215062" cy="2747963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667" y="4400276"/>
            <a:ext cx="6205532" cy="576262"/>
          </a:xfrm>
          <a:prstGeom prst="rect">
            <a:avLst/>
          </a:prstGeom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199" y="1130359"/>
            <a:ext cx="2300287" cy="385286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0F41F99-EC7A-9E78-EF97-43E09C752FF3}"/>
              </a:ext>
            </a:extLst>
          </p:cNvPr>
          <p:cNvSpPr txBox="1"/>
          <p:nvPr/>
        </p:nvSpPr>
        <p:spPr>
          <a:xfrm>
            <a:off x="4771848" y="287206"/>
            <a:ext cx="41062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A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fast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,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robust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, and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fully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functional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prototype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is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ready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for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deployment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.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By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inputting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PGT-A data and time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of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biopsy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,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users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receive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recommended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embryo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transfer ranking in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under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10 minutes.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25438F5-80DB-B95A-5989-BFF2DB4C142F}"/>
              </a:ext>
            </a:extLst>
          </p:cNvPr>
          <p:cNvSpPr txBox="1"/>
          <p:nvPr/>
        </p:nvSpPr>
        <p:spPr>
          <a:xfrm>
            <a:off x="611560" y="915566"/>
            <a:ext cx="4106234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Genomic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Screening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Platform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to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Support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Embryologist</a:t>
            </a:r>
            <a:r>
              <a:rPr lang="es-MX" sz="11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i="1" dirty="0" err="1">
                <a:solidFill>
                  <a:srgbClr val="0F6587"/>
                </a:solidFill>
                <a:latin typeface="Montserrat" pitchFamily="2" charset="0"/>
              </a:rPr>
              <a:t>Decisions</a:t>
            </a:r>
            <a:endParaRPr lang="es-MX" sz="1100" b="1" i="1" dirty="0">
              <a:solidFill>
                <a:srgbClr val="0F6587"/>
              </a:solidFill>
              <a:latin typeface="Montserrat" pitchFamily="2" charset="0"/>
            </a:endParaRPr>
          </a:p>
          <a:p>
            <a:endParaRPr lang="es-MX" sz="1100" b="1" i="1" dirty="0">
              <a:solidFill>
                <a:srgbClr val="0F6587"/>
              </a:solidFill>
              <a:latin typeface="Montserrat" pitchFamily="2" charset="0"/>
            </a:endParaRPr>
          </a:p>
          <a:p>
            <a:r>
              <a:rPr lang="es-MX" sz="1400" b="1" i="1" dirty="0" err="1">
                <a:solidFill>
                  <a:srgbClr val="0F6587"/>
                </a:solidFill>
                <a:latin typeface="Montserrat" pitchFamily="2" charset="0"/>
              </a:rPr>
              <a:t>Prototype</a:t>
            </a:r>
            <a:r>
              <a:rPr lang="es-MX" sz="14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i="1" dirty="0" err="1">
                <a:solidFill>
                  <a:srgbClr val="0F6587"/>
                </a:solidFill>
                <a:latin typeface="Montserrat" pitchFamily="2" charset="0"/>
              </a:rPr>
              <a:t>is</a:t>
            </a:r>
            <a:r>
              <a:rPr lang="es-MX" sz="1400" b="1" i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400" b="1" i="1" dirty="0" err="1">
                <a:solidFill>
                  <a:srgbClr val="0F6587"/>
                </a:solidFill>
                <a:latin typeface="Montserrat" pitchFamily="2" charset="0"/>
              </a:rPr>
              <a:t>live</a:t>
            </a:r>
            <a:endParaRPr lang="es-MX" sz="1400" b="1" i="1" dirty="0">
              <a:solidFill>
                <a:srgbClr val="0F6587"/>
              </a:solidFill>
              <a:latin typeface="Montserrat" pitchFamily="2" charset="0"/>
            </a:endParaRPr>
          </a:p>
        </p:txBody>
      </p:sp>
      <p:pic>
        <p:nvPicPr>
          <p:cNvPr id="10" name="Imagen 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2F3BE01-9E6C-D2D5-6D50-2F37AB2ED5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780864"/>
            <a:ext cx="5647125" cy="24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53" y="559410"/>
            <a:ext cx="4352925" cy="431006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15A223-3C5F-6C30-A36D-4FDBDFFE66CE}"/>
              </a:ext>
            </a:extLst>
          </p:cNvPr>
          <p:cNvSpPr txBox="1"/>
          <p:nvPr/>
        </p:nvSpPr>
        <p:spPr>
          <a:xfrm>
            <a:off x="323528" y="1347614"/>
            <a:ext cx="33843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 err="1">
                <a:solidFill>
                  <a:schemeClr val="bg1"/>
                </a:solidFill>
                <a:latin typeface="Montserrat" pitchFamily="2" charset="0"/>
              </a:rPr>
              <a:t>Market</a:t>
            </a:r>
            <a:endParaRPr lang="es-MX" sz="3600" b="1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Large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expanding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market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-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further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accelerated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by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our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entry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: </a:t>
            </a: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CellKinetica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unlocks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greater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clinical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value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in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both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PGT-A and IVF,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synergistically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boosting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their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global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adoption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and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success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rates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Grand View </a:t>
            </a:r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Research</a:t>
            </a:r>
            <a:endParaRPr lang="es-MX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pic>
        <p:nvPicPr>
          <p:cNvPr id="3" name="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53" y="559410"/>
            <a:ext cx="4352925" cy="431006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7B2AE7A-B424-56A2-A85D-3EAAF054C2CA}"/>
              </a:ext>
            </a:extLst>
          </p:cNvPr>
          <p:cNvSpPr txBox="1"/>
          <p:nvPr/>
        </p:nvSpPr>
        <p:spPr>
          <a:xfrm>
            <a:off x="395536" y="1203598"/>
            <a:ext cx="324036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Market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access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:  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CellKinetica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price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~ $500/test per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embryo</a:t>
            </a:r>
            <a:endParaRPr lang="es-MX" sz="12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(10%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of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PGT-A;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low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range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of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prices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).  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TAM $500M (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now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 - $2500M (in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several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years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): 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1M global PGT-A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users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growing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towards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5 M IVF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users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SAM $150M (target in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first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36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months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): </a:t>
            </a:r>
          </a:p>
          <a:p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300K PGT-A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users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in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high-demand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European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(South/East)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countries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SOM $75M (target in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first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18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months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): </a:t>
            </a:r>
          </a:p>
          <a:p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150K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users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(50%) in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leading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labs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of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Spain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Greece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Italy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Poland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593029"/>
            <a:ext cx="3793203" cy="415904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E93904E-D723-F2A4-0FDD-3F0D44EA2A86}"/>
              </a:ext>
            </a:extLst>
          </p:cNvPr>
          <p:cNvSpPr txBox="1"/>
          <p:nvPr/>
        </p:nvSpPr>
        <p:spPr>
          <a:xfrm>
            <a:off x="395536" y="1279088"/>
            <a:ext cx="331236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 err="1">
                <a:solidFill>
                  <a:schemeClr val="bg1"/>
                </a:solidFill>
                <a:latin typeface="Montserrat" pitchFamily="2" charset="0"/>
              </a:rPr>
              <a:t>Competition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CellKinetica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delivers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higher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precision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without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added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complexity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easy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to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implement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interpret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extend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, and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scalepowered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by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maximal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info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value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from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complete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cellular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dynamics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during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early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embryogenesis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417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ED0385F3-EC18-B93A-2A8E-191298B85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-1123" y="961"/>
            <a:ext cx="9143980" cy="5142539"/>
          </a:xfrm>
          <a:prstGeom prst="rect">
            <a:avLst/>
          </a:prstGeom>
        </p:spPr>
      </p:pic>
      <p:pic>
        <p:nvPicPr>
          <p:cNvPr id="5" name="Imagen 4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41655C06-A837-22B1-6CD2-C2627092B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275606"/>
            <a:ext cx="8547516" cy="357824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4C115D34-CF1F-3820-21DA-6672BCC033C9}"/>
              </a:ext>
            </a:extLst>
          </p:cNvPr>
          <p:cNvSpPr txBox="1"/>
          <p:nvPr/>
        </p:nvSpPr>
        <p:spPr>
          <a:xfrm>
            <a:off x="323528" y="1347613"/>
            <a:ext cx="16503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Competitor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4FD05C4-FF73-49B2-5BA4-ED95CB67FBAF}"/>
              </a:ext>
            </a:extLst>
          </p:cNvPr>
          <p:cNvSpPr txBox="1"/>
          <p:nvPr/>
        </p:nvSpPr>
        <p:spPr>
          <a:xfrm>
            <a:off x="2084720" y="1353530"/>
            <a:ext cx="1623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Strengths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7D4B0D5-95AA-559B-0492-03F9C442274B}"/>
              </a:ext>
            </a:extLst>
          </p:cNvPr>
          <p:cNvSpPr txBox="1"/>
          <p:nvPr/>
        </p:nvSpPr>
        <p:spPr>
          <a:xfrm>
            <a:off x="3810398" y="1347613"/>
            <a:ext cx="1623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Weaknesses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DD5105-EB7B-638B-70AE-627268B958E1}"/>
              </a:ext>
            </a:extLst>
          </p:cNvPr>
          <p:cNvSpPr txBox="1"/>
          <p:nvPr/>
        </p:nvSpPr>
        <p:spPr>
          <a:xfrm>
            <a:off x="5508104" y="1347613"/>
            <a:ext cx="1623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Opportunities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BE86136-DE3E-235D-C40F-86504BA97EDC}"/>
              </a:ext>
            </a:extLst>
          </p:cNvPr>
          <p:cNvSpPr txBox="1"/>
          <p:nvPr/>
        </p:nvSpPr>
        <p:spPr>
          <a:xfrm>
            <a:off x="7181102" y="1353528"/>
            <a:ext cx="1684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Threats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B517D7-6737-F193-FA02-0944C55062E6}"/>
              </a:ext>
            </a:extLst>
          </p:cNvPr>
          <p:cNvSpPr txBox="1"/>
          <p:nvPr/>
        </p:nvSpPr>
        <p:spPr>
          <a:xfrm>
            <a:off x="323528" y="1995686"/>
            <a:ext cx="16503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 err="1">
                <a:solidFill>
                  <a:schemeClr val="bg1"/>
                </a:solidFill>
                <a:latin typeface="Montserrat" pitchFamily="2" charset="0"/>
              </a:rPr>
              <a:t>Embryoscope</a:t>
            </a: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+ AI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E3F80E1-BB99-E999-0938-7F1FEC637B31}"/>
              </a:ext>
            </a:extLst>
          </p:cNvPr>
          <p:cNvSpPr txBox="1"/>
          <p:nvPr/>
        </p:nvSpPr>
        <p:spPr>
          <a:xfrm>
            <a:off x="307270" y="2732316"/>
            <a:ext cx="16503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 err="1">
                <a:solidFill>
                  <a:schemeClr val="bg1"/>
                </a:solidFill>
                <a:latin typeface="Montserrat" pitchFamily="2" charset="0"/>
              </a:rPr>
              <a:t>MitoScore</a:t>
            </a: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/</a:t>
            </a:r>
            <a:r>
              <a:rPr lang="es-MX" sz="1100" b="1" dirty="0" err="1">
                <a:solidFill>
                  <a:schemeClr val="bg1"/>
                </a:solidFill>
                <a:latin typeface="Montserrat" pitchFamily="2" charset="0"/>
              </a:rPr>
              <a:t>MitoSure</a:t>
            </a:r>
            <a:endParaRPr lang="es-MX" sz="11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EF4581A-6131-FEA1-9A15-7DFF85EF1322}"/>
              </a:ext>
            </a:extLst>
          </p:cNvPr>
          <p:cNvSpPr txBox="1"/>
          <p:nvPr/>
        </p:nvSpPr>
        <p:spPr>
          <a:xfrm>
            <a:off x="326845" y="3408830"/>
            <a:ext cx="16503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 err="1">
                <a:solidFill>
                  <a:schemeClr val="bg1"/>
                </a:solidFill>
                <a:latin typeface="Montserrat" pitchFamily="2" charset="0"/>
              </a:rPr>
              <a:t>Other</a:t>
            </a:r>
            <a:r>
              <a:rPr lang="es-MX" sz="1100" b="1" dirty="0">
                <a:solidFill>
                  <a:schemeClr val="bg1"/>
                </a:solidFill>
                <a:latin typeface="Montserrat" pitchFamily="2" charset="0"/>
              </a:rPr>
              <a:t> non‑invasive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8FF5DC7-BDAF-08C1-F433-0A3A5616AB79}"/>
              </a:ext>
            </a:extLst>
          </p:cNvPr>
          <p:cNvSpPr txBox="1"/>
          <p:nvPr/>
        </p:nvSpPr>
        <p:spPr>
          <a:xfrm>
            <a:off x="316080" y="4248245"/>
            <a:ext cx="16503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1" dirty="0" err="1">
                <a:solidFill>
                  <a:schemeClr val="bg1"/>
                </a:solidFill>
                <a:latin typeface="Montserrat" pitchFamily="2" charset="0"/>
              </a:rPr>
              <a:t>CellKinetica</a:t>
            </a:r>
            <a:endParaRPr lang="es-MX" sz="11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AA4DB99-0D93-7A40-D6A4-86026493968A}"/>
              </a:ext>
            </a:extLst>
          </p:cNvPr>
          <p:cNvSpPr txBox="1"/>
          <p:nvPr/>
        </p:nvSpPr>
        <p:spPr>
          <a:xfrm>
            <a:off x="2049834" y="1975583"/>
            <a:ext cx="16580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Market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leader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E91DE04-5887-AE43-5FC4-E7ADDDF5C531}"/>
              </a:ext>
            </a:extLst>
          </p:cNvPr>
          <p:cNvSpPr txBox="1"/>
          <p:nvPr/>
        </p:nvSpPr>
        <p:spPr>
          <a:xfrm>
            <a:off x="2062514" y="2536155"/>
            <a:ext cx="16675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Established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brand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PGT-A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based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der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BF7B8E2-1592-7139-250C-E52533ED0BD7}"/>
              </a:ext>
            </a:extLst>
          </p:cNvPr>
          <p:cNvSpPr txBox="1"/>
          <p:nvPr/>
        </p:nvSpPr>
        <p:spPr>
          <a:xfrm>
            <a:off x="2049481" y="3219428"/>
            <a:ext cx="16503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Numerous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pPr algn="ctr"/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Easy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integration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C86F660-04AA-0DD9-1564-01F4A96B946A}"/>
              </a:ext>
            </a:extLst>
          </p:cNvPr>
          <p:cNvSpPr txBox="1"/>
          <p:nvPr/>
        </p:nvSpPr>
        <p:spPr>
          <a:xfrm>
            <a:off x="2057570" y="3939902"/>
            <a:ext cx="165033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Highest info value </a:t>
            </a:r>
          </a:p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(all cellular divisions </a:t>
            </a:r>
          </a:p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are traced)</a:t>
            </a:r>
          </a:p>
          <a:p>
            <a:pPr algn="ctr"/>
            <a:r>
              <a:rPr lang="en-US" sz="1000" dirty="0">
                <a:solidFill>
                  <a:srgbClr val="0F6587"/>
                </a:solidFill>
                <a:latin typeface="Montserrat" pitchFamily="2" charset="0"/>
              </a:rPr>
              <a:t>Validated pilot</a:t>
            </a:r>
          </a:p>
          <a:p>
            <a:pPr algn="ctr"/>
            <a:r>
              <a:rPr lang="en-US" sz="1000" dirty="0">
                <a:solidFill>
                  <a:srgbClr val="0F6587"/>
                </a:solidFill>
                <a:latin typeface="Montserrat" pitchFamily="2" charset="0"/>
              </a:rPr>
              <a:t>Easy integration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642CC0-952B-A6E0-9223-A5C7F0C304C3}"/>
              </a:ext>
            </a:extLst>
          </p:cNvPr>
          <p:cNvSpPr txBox="1"/>
          <p:nvPr/>
        </p:nvSpPr>
        <p:spPr>
          <a:xfrm>
            <a:off x="3776825" y="1744750"/>
            <a:ext cx="16503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Low info value </a:t>
            </a:r>
          </a:p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(first 16 cells time point)</a:t>
            </a:r>
          </a:p>
          <a:p>
            <a:pPr algn="ctr"/>
            <a:r>
              <a:rPr lang="en-US" sz="1000" dirty="0">
                <a:solidFill>
                  <a:srgbClr val="0F6587"/>
                </a:solidFill>
                <a:latin typeface="Montserrat" pitchFamily="2" charset="0"/>
              </a:rPr>
              <a:t>High implementation 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022C332-8B30-C8DE-B30E-23FB256DBD28}"/>
              </a:ext>
            </a:extLst>
          </p:cNvPr>
          <p:cNvSpPr txBox="1"/>
          <p:nvPr/>
        </p:nvSpPr>
        <p:spPr>
          <a:xfrm>
            <a:off x="3784546" y="2560046"/>
            <a:ext cx="16503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Low info value </a:t>
            </a:r>
          </a:p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(biopsy time point) </a:t>
            </a:r>
          </a:p>
          <a:p>
            <a:pPr algn="ctr"/>
            <a:r>
              <a:rPr lang="en-US" sz="1000" dirty="0">
                <a:solidFill>
                  <a:srgbClr val="0F6587"/>
                </a:solidFill>
                <a:latin typeface="Montserrat" pitchFamily="2" charset="0"/>
              </a:rPr>
              <a:t>Clinically debated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6ED71C4-E396-3632-DD99-38A3FE9CDDC4}"/>
              </a:ext>
            </a:extLst>
          </p:cNvPr>
          <p:cNvSpPr txBox="1"/>
          <p:nvPr/>
        </p:nvSpPr>
        <p:spPr>
          <a:xfrm>
            <a:off x="3784546" y="3262636"/>
            <a:ext cx="1661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Minimal info value</a:t>
            </a:r>
          </a:p>
          <a:p>
            <a:pPr algn="ctr"/>
            <a:r>
              <a:rPr lang="en-US" sz="1000" dirty="0">
                <a:solidFill>
                  <a:srgbClr val="0F6587"/>
                </a:solidFill>
                <a:latin typeface="Montserrat" pitchFamily="2" charset="0"/>
              </a:rPr>
              <a:t>Noisy metrics</a:t>
            </a:r>
          </a:p>
          <a:p>
            <a:pPr algn="ctr"/>
            <a:r>
              <a:rPr lang="en-US" sz="1000" dirty="0">
                <a:solidFill>
                  <a:srgbClr val="0F6587"/>
                </a:solidFill>
                <a:latin typeface="Montserrat" pitchFamily="2" charset="0"/>
              </a:rPr>
              <a:t>Clinically unproven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E517DB9-3C7D-F277-41DB-4E42D820D991}"/>
              </a:ext>
            </a:extLst>
          </p:cNvPr>
          <p:cNvSpPr txBox="1"/>
          <p:nvPr/>
        </p:nvSpPr>
        <p:spPr>
          <a:xfrm>
            <a:off x="3767927" y="4170734"/>
            <a:ext cx="1666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b="1" dirty="0" err="1">
                <a:solidFill>
                  <a:srgbClr val="0F6587"/>
                </a:solidFill>
                <a:latin typeface="Montserrat" pitchFamily="2" charset="0"/>
              </a:rPr>
              <a:t>Multi-country</a:t>
            </a:r>
            <a:r>
              <a:rPr lang="es-MX" sz="1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1000" b="1" dirty="0" err="1">
                <a:solidFill>
                  <a:srgbClr val="0F6587"/>
                </a:solidFill>
                <a:latin typeface="Montserrat" pitchFamily="2" charset="0"/>
              </a:rPr>
              <a:t>Scaling</a:t>
            </a:r>
            <a:r>
              <a:rPr lang="es-MX" sz="1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000" b="1" dirty="0" err="1">
                <a:solidFill>
                  <a:srgbClr val="0F6587"/>
                </a:solidFill>
                <a:latin typeface="Montserrat" pitchFamily="2" charset="0"/>
              </a:rPr>
              <a:t>Is</a:t>
            </a:r>
            <a:r>
              <a:rPr lang="es-MX" sz="1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000" b="1" dirty="0" err="1">
                <a:solidFill>
                  <a:srgbClr val="0F6587"/>
                </a:solidFill>
                <a:latin typeface="Montserrat" pitchFamily="2" charset="0"/>
              </a:rPr>
              <a:t>Needed</a:t>
            </a:r>
            <a:endParaRPr lang="es-MX" sz="1000" b="1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B1CF3DC-F060-D850-6FC8-1160A66ED790}"/>
              </a:ext>
            </a:extLst>
          </p:cNvPr>
          <p:cNvSpPr txBox="1"/>
          <p:nvPr/>
        </p:nvSpPr>
        <p:spPr>
          <a:xfrm>
            <a:off x="5487015" y="1897028"/>
            <a:ext cx="1650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Larger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datasets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New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interpretations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98F9256-0A1C-2206-409C-DAEFE29CD420}"/>
              </a:ext>
            </a:extLst>
          </p:cNvPr>
          <p:cNvSpPr txBox="1"/>
          <p:nvPr/>
        </p:nvSpPr>
        <p:spPr>
          <a:xfrm>
            <a:off x="5451138" y="2661022"/>
            <a:ext cx="1650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Dynamic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extensions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Add-ons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1A52CDD-9CCB-6B7A-BE55-E4C8DC778FB7}"/>
              </a:ext>
            </a:extLst>
          </p:cNvPr>
          <p:cNvSpPr txBox="1"/>
          <p:nvPr/>
        </p:nvSpPr>
        <p:spPr>
          <a:xfrm>
            <a:off x="5490109" y="3411877"/>
            <a:ext cx="16614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New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tools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emerging</a:t>
            </a:r>
            <a:endParaRPr lang="es-MX" sz="10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95DEBBB-814B-A5FC-F5B9-1D33AFC16951}"/>
              </a:ext>
            </a:extLst>
          </p:cNvPr>
          <p:cNvSpPr txBox="1"/>
          <p:nvPr/>
        </p:nvSpPr>
        <p:spPr>
          <a:xfrm>
            <a:off x="5470488" y="4170734"/>
            <a:ext cx="16669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b="1" dirty="0">
                <a:solidFill>
                  <a:srgbClr val="0F6587"/>
                </a:solidFill>
                <a:latin typeface="Montserrat" pitchFamily="2" charset="0"/>
              </a:rPr>
              <a:t>PGT-A </a:t>
            </a:r>
            <a:r>
              <a:rPr lang="es-MX" sz="1000" b="1" dirty="0" err="1">
                <a:solidFill>
                  <a:srgbClr val="0F6587"/>
                </a:solidFill>
                <a:latin typeface="Montserrat" pitchFamily="2" charset="0"/>
              </a:rPr>
              <a:t>synergy</a:t>
            </a:r>
            <a:endParaRPr lang="es-MX" sz="10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000" b="1" dirty="0">
                <a:solidFill>
                  <a:srgbClr val="0F6587"/>
                </a:solidFill>
                <a:latin typeface="Montserrat" pitchFamily="2" charset="0"/>
              </a:rPr>
              <a:t>M/SR </a:t>
            </a:r>
            <a:r>
              <a:rPr lang="es-MX" sz="1000" b="1" dirty="0" err="1">
                <a:solidFill>
                  <a:srgbClr val="0F6587"/>
                </a:solidFill>
                <a:latin typeface="Montserrat" pitchFamily="2" charset="0"/>
              </a:rPr>
              <a:t>extension</a:t>
            </a:r>
            <a:endParaRPr lang="es-MX" sz="1000" b="1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2FFB587-1558-8541-3EE1-16134D81BF20}"/>
              </a:ext>
            </a:extLst>
          </p:cNvPr>
          <p:cNvSpPr txBox="1"/>
          <p:nvPr/>
        </p:nvSpPr>
        <p:spPr>
          <a:xfrm>
            <a:off x="7180920" y="1897028"/>
            <a:ext cx="1650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Superior alternatives</a:t>
            </a:r>
          </a:p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New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critical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data 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BF47F22A-15DC-485B-BF73-D397D10F2215}"/>
              </a:ext>
            </a:extLst>
          </p:cNvPr>
          <p:cNvSpPr txBox="1"/>
          <p:nvPr/>
        </p:nvSpPr>
        <p:spPr>
          <a:xfrm>
            <a:off x="7169791" y="3406131"/>
            <a:ext cx="16614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Superior alternatives 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2D57913-2842-3CDE-E9C6-6D6FF666B75A}"/>
              </a:ext>
            </a:extLst>
          </p:cNvPr>
          <p:cNvSpPr txBox="1"/>
          <p:nvPr/>
        </p:nvSpPr>
        <p:spPr>
          <a:xfrm>
            <a:off x="7203116" y="4093790"/>
            <a:ext cx="1666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Entrance to market</a:t>
            </a:r>
          </a:p>
          <a:p>
            <a:pPr algn="ctr"/>
            <a:r>
              <a:rPr lang="en-US" sz="1000" b="1" dirty="0">
                <a:solidFill>
                  <a:srgbClr val="0F6587"/>
                </a:solidFill>
                <a:latin typeface="Montserrat" pitchFamily="2" charset="0"/>
              </a:rPr>
              <a:t>Competing breakthroughs</a:t>
            </a:r>
            <a:endParaRPr lang="es-MX" sz="1000" b="1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E243BE-445F-E811-86BA-BF1A4F1FB898}"/>
              </a:ext>
            </a:extLst>
          </p:cNvPr>
          <p:cNvSpPr txBox="1"/>
          <p:nvPr/>
        </p:nvSpPr>
        <p:spPr>
          <a:xfrm>
            <a:off x="7197980" y="2654405"/>
            <a:ext cx="1650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Superior alternatives</a:t>
            </a:r>
          </a:p>
          <a:p>
            <a:pPr algn="ctr"/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New </a:t>
            </a:r>
            <a:r>
              <a:rPr lang="es-MX" sz="1000" dirty="0" err="1">
                <a:solidFill>
                  <a:srgbClr val="0F6587"/>
                </a:solidFill>
                <a:latin typeface="Montserrat" pitchFamily="2" charset="0"/>
              </a:rPr>
              <a:t>critical</a:t>
            </a:r>
            <a:r>
              <a:rPr lang="es-MX" sz="1000" dirty="0">
                <a:solidFill>
                  <a:srgbClr val="0F6587"/>
                </a:solidFill>
                <a:latin typeface="Montserrat" pitchFamily="2" charset="0"/>
              </a:rPr>
              <a:t> data </a:t>
            </a: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3CEFAAB4-90D3-D93B-0ECA-57DC055AD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5" name="Imagen 4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C59CB710-D2D8-8524-C823-E21956E86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77" y="1851670"/>
            <a:ext cx="8208645" cy="307883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C5FE473-B754-4471-EB11-4A8F52AC9F34}"/>
              </a:ext>
            </a:extLst>
          </p:cNvPr>
          <p:cNvSpPr txBox="1"/>
          <p:nvPr/>
        </p:nvSpPr>
        <p:spPr>
          <a:xfrm>
            <a:off x="971599" y="1059582"/>
            <a:ext cx="7200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Product</a:t>
            </a:r>
            <a:r>
              <a:rPr lang="es-MX" sz="20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rgbClr val="0F6587"/>
                </a:solidFill>
                <a:latin typeface="Montserrat" pitchFamily="2" charset="0"/>
              </a:rPr>
              <a:t>roadmap</a:t>
            </a:r>
            <a:endParaRPr lang="es-MX" sz="11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100" b="1" dirty="0" err="1">
                <a:solidFill>
                  <a:srgbClr val="0F6587"/>
                </a:solidFill>
                <a:latin typeface="Montserrat" pitchFamily="2" charset="0"/>
              </a:rPr>
              <a:t>Strategic</a:t>
            </a:r>
            <a:r>
              <a:rPr lang="es-MX" sz="11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b="1" dirty="0" err="1">
                <a:solidFill>
                  <a:srgbClr val="0F6587"/>
                </a:solidFill>
                <a:latin typeface="Montserrat" pitchFamily="2" charset="0"/>
              </a:rPr>
              <a:t>goal</a:t>
            </a:r>
            <a:r>
              <a:rPr lang="es-MX" sz="1100" b="1" dirty="0">
                <a:solidFill>
                  <a:srgbClr val="0F6587"/>
                </a:solidFill>
                <a:latin typeface="Montserrat" pitchFamily="2" charset="0"/>
              </a:rPr>
              <a:t>: 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Position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CellKinetica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as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the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globally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adopted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screening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platform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alongside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PGT-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ANext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major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milestone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: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Secure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the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first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paying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client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100" dirty="0" err="1">
                <a:solidFill>
                  <a:srgbClr val="0F6587"/>
                </a:solidFill>
                <a:latin typeface="Montserrat" pitchFamily="2" charset="0"/>
              </a:rPr>
              <a:t>by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mid-2027.</a:t>
            </a: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5A32967E-9D68-442D-A1A8-7D5DB94B31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33FB05A7-BAB0-D367-E373-398726C9A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557332"/>
            <a:ext cx="3888432" cy="383966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00C7E06-884C-7EC3-CACB-1CAB22224C1C}"/>
              </a:ext>
            </a:extLst>
          </p:cNvPr>
          <p:cNvSpPr txBox="1"/>
          <p:nvPr/>
        </p:nvSpPr>
        <p:spPr>
          <a:xfrm>
            <a:off x="250869" y="1635646"/>
            <a:ext cx="4572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Montserrat" pitchFamily="2" charset="0"/>
              </a:rPr>
              <a:t>Execution Roadmap: </a:t>
            </a:r>
          </a:p>
          <a:p>
            <a:r>
              <a:rPr lang="en-US" b="1" dirty="0">
                <a:solidFill>
                  <a:schemeClr val="bg1"/>
                </a:solidFill>
                <a:latin typeface="Montserrat" pitchFamily="2" charset="0"/>
              </a:rPr>
              <a:t>Go-to-Market, Legal, IP </a:t>
            </a:r>
          </a:p>
          <a:p>
            <a:r>
              <a:rPr lang="en-US" b="1" dirty="0">
                <a:solidFill>
                  <a:schemeClr val="bg1"/>
                </a:solidFill>
                <a:latin typeface="Montserrat" pitchFamily="2" charset="0"/>
              </a:rPr>
              <a:t>&amp; Regulatory</a:t>
            </a:r>
          </a:p>
          <a:p>
            <a:endParaRPr lang="es-MX" sz="16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Secured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clinical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partnerships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&amp;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defensible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IP → Position </a:t>
            </a:r>
          </a:p>
          <a:p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CellKinetica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as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the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leading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embryo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ranking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solution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in </a:t>
            </a:r>
          </a:p>
          <a:p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Europe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 and </a:t>
            </a:r>
            <a:r>
              <a:rPr lang="es-MX" sz="1600" b="1" dirty="0" err="1">
                <a:solidFill>
                  <a:schemeClr val="bg1"/>
                </a:solidFill>
                <a:latin typeface="Montserrat" pitchFamily="2" charset="0"/>
              </a:rPr>
              <a:t>globally</a:t>
            </a:r>
            <a:r>
              <a:rPr lang="es-MX" sz="1600" b="1" dirty="0">
                <a:solidFill>
                  <a:schemeClr val="bg1"/>
                </a:solidFill>
                <a:latin typeface="Montserrat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Forma">
            <a:extLst>
              <a:ext uri="{FF2B5EF4-FFF2-40B4-BE49-F238E27FC236}">
                <a16:creationId xmlns:a16="http://schemas.microsoft.com/office/drawing/2014/main" id="{AB391EA4-2FC0-0545-F329-F925B4172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5" name="Imagen 4" descr="Logotipo&#10;&#10;El contenido generado por IA puede ser incorrecto.">
            <a:extLst>
              <a:ext uri="{FF2B5EF4-FFF2-40B4-BE49-F238E27FC236}">
                <a16:creationId xmlns:a16="http://schemas.microsoft.com/office/drawing/2014/main" id="{17F8B4B3-E17C-AFA6-8944-5CA3DABC5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1059581"/>
            <a:ext cx="2808312" cy="277304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5D6265C-72BF-A396-A395-F8206DF7D527}"/>
              </a:ext>
            </a:extLst>
          </p:cNvPr>
          <p:cNvSpPr txBox="1"/>
          <p:nvPr/>
        </p:nvSpPr>
        <p:spPr>
          <a:xfrm>
            <a:off x="467544" y="1058711"/>
            <a:ext cx="48245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Go-to-Market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Strategy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: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Mid-size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EU South/East (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Spain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Greece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Poland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) → Full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Europe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→ Global (USA,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Japan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South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Korea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+)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Traction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: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Advanced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discussions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&amp;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Letters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of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Intent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(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Greece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, Estonia,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Canada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) 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Legal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Foundation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(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SeedUp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): 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Swiss Société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Anonyme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(SA) (Q1 2026) •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Clean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cap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table (1y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cliff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/3y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vesting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) 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IP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Strategy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(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Reuteler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):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Trade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secret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•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Database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→ Broad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patent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filing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(Q2 2026) 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Risk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Mitigation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&amp;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Freedom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To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Operate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(FTO):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Distinct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algorithms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• No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blocking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patents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→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Strong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FTO</a:t>
            </a:r>
          </a:p>
          <a:p>
            <a:endParaRPr lang="es-MX" sz="12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Regulatory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Roadmap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 (</a:t>
            </a:r>
            <a:r>
              <a:rPr lang="es-MX" sz="1200" b="1" dirty="0" err="1">
                <a:solidFill>
                  <a:schemeClr val="bg1"/>
                </a:solidFill>
                <a:latin typeface="Montserrat" pitchFamily="2" charset="0"/>
              </a:rPr>
              <a:t>Veranex</a:t>
            </a:r>
            <a:r>
              <a:rPr lang="es-MX" sz="1200" b="1" dirty="0">
                <a:solidFill>
                  <a:schemeClr val="bg1"/>
                </a:solidFill>
                <a:latin typeface="Montserrat" pitchFamily="2" charset="0"/>
              </a:rPr>
              <a:t>): 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In Vitro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Diagnostics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(IVD)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Class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B • "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Research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-use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only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" (RUO)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revenue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ontserrat" pitchFamily="2" charset="0"/>
              </a:rPr>
              <a:t>stream</a:t>
            </a:r>
            <a:r>
              <a:rPr lang="es-MX" sz="1200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Forma&#10;&#10;El contenido generado por IA puede ser incorrecto.">
            <a:extLst>
              <a:ext uri="{FF2B5EF4-FFF2-40B4-BE49-F238E27FC236}">
                <a16:creationId xmlns:a16="http://schemas.microsoft.com/office/drawing/2014/main" id="{EE545E46-2EC5-EB62-9F5C-25DFE6A50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E962CDEC-7730-931B-682A-E50CFE3F9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355" y="1059582"/>
            <a:ext cx="2867307" cy="288032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D834B4FB-A1C3-3F6B-3F6D-8CE532249F6A}"/>
              </a:ext>
            </a:extLst>
          </p:cNvPr>
          <p:cNvSpPr txBox="1"/>
          <p:nvPr/>
        </p:nvSpPr>
        <p:spPr>
          <a:xfrm>
            <a:off x="348338" y="1419622"/>
            <a:ext cx="5544616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600" b="1" dirty="0" err="1">
                <a:solidFill>
                  <a:schemeClr val="bg1"/>
                </a:solidFill>
                <a:latin typeface="Montserrat" pitchFamily="2" charset="0"/>
              </a:rPr>
              <a:t>Financial</a:t>
            </a:r>
            <a:r>
              <a:rPr lang="es-MX" sz="36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3600" b="1" dirty="0" err="1">
                <a:solidFill>
                  <a:schemeClr val="bg1"/>
                </a:solidFill>
                <a:latin typeface="Montserrat" pitchFamily="2" charset="0"/>
              </a:rPr>
              <a:t>model</a:t>
            </a:r>
            <a:endParaRPr lang="es-MX" sz="3600" b="1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B2B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Go-to-Market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Itinital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Phase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: </a:t>
            </a:r>
          </a:p>
          <a:p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Mid-Sized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European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Fertility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Centers</a:t>
            </a:r>
          </a:p>
          <a:p>
            <a:endParaRPr lang="es-MX" sz="20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Sustainable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Unit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Economics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: </a:t>
            </a:r>
          </a:p>
          <a:p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$10.5M LTV per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Clinic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, Break-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Even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</a:p>
          <a:p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at </a:t>
            </a:r>
            <a:r>
              <a:rPr lang="es-MX" sz="2000" b="1" dirty="0" err="1">
                <a:solidFill>
                  <a:schemeClr val="bg1"/>
                </a:solidFill>
                <a:latin typeface="Montserrat" pitchFamily="2" charset="0"/>
              </a:rPr>
              <a:t>Month</a:t>
            </a:r>
            <a:r>
              <a:rPr lang="es-MX" sz="2000" b="1" dirty="0">
                <a:solidFill>
                  <a:schemeClr val="bg1"/>
                </a:solidFill>
                <a:latin typeface="Montserrat" pitchFamily="2" charset="0"/>
              </a:rPr>
              <a:t> 23</a:t>
            </a:r>
          </a:p>
        </p:txBody>
      </p:sp>
    </p:spTree>
    <p:extLst>
      <p:ext uri="{BB962C8B-B14F-4D97-AF65-F5344CB8AC3E}">
        <p14:creationId xmlns:p14="http://schemas.microsoft.com/office/powerpoint/2010/main" val="2603730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Forma">
            <a:extLst>
              <a:ext uri="{FF2B5EF4-FFF2-40B4-BE49-F238E27FC236}">
                <a16:creationId xmlns:a16="http://schemas.microsoft.com/office/drawing/2014/main" id="{1C856E62-FFC2-D5E4-ED60-3C15FBB01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7" name="Imagen 6" descr="Código QR&#10;&#10;El contenido generado por IA puede ser incorrecto.">
            <a:extLst>
              <a:ext uri="{FF2B5EF4-FFF2-40B4-BE49-F238E27FC236}">
                <a16:creationId xmlns:a16="http://schemas.microsoft.com/office/drawing/2014/main" id="{C396E5A2-1A9F-2D1B-3031-FD5558D04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1491630"/>
            <a:ext cx="2283193" cy="230425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96103FCC-AC0B-314D-2E21-7EA1CC60CD11}"/>
              </a:ext>
            </a:extLst>
          </p:cNvPr>
          <p:cNvSpPr txBox="1"/>
          <p:nvPr/>
        </p:nvSpPr>
        <p:spPr>
          <a:xfrm>
            <a:off x="200012" y="1131590"/>
            <a:ext cx="5832648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>
                <a:solidFill>
                  <a:schemeClr val="bg1"/>
                </a:solidFill>
                <a:latin typeface="Montserrat" pitchFamily="2" charset="0"/>
              </a:rPr>
              <a:t>Financial</a:t>
            </a:r>
            <a:r>
              <a:rPr lang="es-MX" sz="28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800" b="1" dirty="0" err="1">
                <a:solidFill>
                  <a:schemeClr val="bg1"/>
                </a:solidFill>
                <a:latin typeface="Montserrat" pitchFamily="2" charset="0"/>
              </a:rPr>
              <a:t>model</a:t>
            </a:r>
            <a:endParaRPr lang="es-MX" sz="28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Model</a:t>
            </a:r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 Inputs </a:t>
            </a:r>
          </a:p>
          <a:p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(</a:t>
            </a:r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Europe</a:t>
            </a:r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mid-size</a:t>
            </a:r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 IVF </a:t>
            </a:r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clinics</a:t>
            </a:r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):</a:t>
            </a: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Clinic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Volume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	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7000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users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/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year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Test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Pricing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500 $/test</a:t>
            </a: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Customer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Acquisition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Cost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30'000 $/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clinic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Customer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Lifetime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36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month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Acquisition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Cadence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2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month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Cost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of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clinic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maintenance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3'000 $/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month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Pre-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Revenue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Burn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:		$1.25M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over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 18 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months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Fixed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costs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: base salaries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40k$/</a:t>
            </a:r>
            <a:r>
              <a:rPr lang="es-MX" sz="1400" b="1" dirty="0" err="1">
                <a:solidFill>
                  <a:schemeClr val="bg1"/>
                </a:solidFill>
                <a:latin typeface="Montserrat" pitchFamily="2" charset="0"/>
              </a:rPr>
              <a:t>month</a:t>
            </a:r>
            <a:endParaRPr lang="es-MX" sz="14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variable costs: server, IP/regulatory/legal fees, travels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https://cellkineticafinmod.shinyapps.io/CellKineticaFinMod/</a:t>
            </a:r>
          </a:p>
        </p:txBody>
      </p:sp>
    </p:spTree>
    <p:extLst>
      <p:ext uri="{BB962C8B-B14F-4D97-AF65-F5344CB8AC3E}">
        <p14:creationId xmlns:p14="http://schemas.microsoft.com/office/powerpoint/2010/main" val="2494176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11FD43-AD19-9229-7E86-F181794A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7C02A4A-DB2A-AAA9-742A-A8CD52997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Forma">
            <a:extLst>
              <a:ext uri="{FF2B5EF4-FFF2-40B4-BE49-F238E27FC236}">
                <a16:creationId xmlns:a16="http://schemas.microsoft.com/office/drawing/2014/main" id="{CEFA9C83-6DCA-518E-9BEB-20DBB58AE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7" name="Imagen 6" descr="Código QR&#10;&#10;El contenido generado por IA puede ser incorrecto.">
            <a:extLst>
              <a:ext uri="{FF2B5EF4-FFF2-40B4-BE49-F238E27FC236}">
                <a16:creationId xmlns:a16="http://schemas.microsoft.com/office/drawing/2014/main" id="{630D5219-2564-DF81-A9AD-31FE5E2AE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1491630"/>
            <a:ext cx="2283193" cy="230425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D72DB63-1C37-5CDA-1D41-70333031B4E9}"/>
              </a:ext>
            </a:extLst>
          </p:cNvPr>
          <p:cNvSpPr txBox="1"/>
          <p:nvPr/>
        </p:nvSpPr>
        <p:spPr>
          <a:xfrm>
            <a:off x="186157" y="1347614"/>
            <a:ext cx="583264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>
                <a:solidFill>
                  <a:schemeClr val="bg1"/>
                </a:solidFill>
                <a:latin typeface="Montserrat" pitchFamily="2" charset="0"/>
              </a:rPr>
              <a:t>Financial</a:t>
            </a:r>
            <a:r>
              <a:rPr lang="es-MX" sz="2800" b="1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2800" b="1" dirty="0" err="1">
                <a:solidFill>
                  <a:schemeClr val="bg1"/>
                </a:solidFill>
                <a:latin typeface="Montserrat" pitchFamily="2" charset="0"/>
              </a:rPr>
              <a:t>model</a:t>
            </a:r>
            <a:endParaRPr lang="es-MX" sz="2800" b="1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(</a:t>
            </a:r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for</a:t>
            </a:r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 36 </a:t>
            </a:r>
            <a:r>
              <a:rPr lang="es-MX" b="1" dirty="0" err="1">
                <a:solidFill>
                  <a:schemeClr val="bg1"/>
                </a:solidFill>
                <a:latin typeface="Montserrat" pitchFamily="2" charset="0"/>
              </a:rPr>
              <a:t>months</a:t>
            </a:r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):</a:t>
            </a: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Number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of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Active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Clinics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9</a:t>
            </a: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Monthly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Revenue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2.6 M$</a:t>
            </a: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Annual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Recurring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Revenue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31.5 M$</a:t>
            </a:r>
          </a:p>
          <a:p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LifeTime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Value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, LTV	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10.5 M$</a:t>
            </a:r>
          </a:p>
          <a:p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LTV/CAC, x	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350</a:t>
            </a:r>
          </a:p>
          <a:p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Break-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even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 (</a:t>
            </a:r>
            <a:r>
              <a:rPr lang="es-MX" sz="1400" dirty="0" err="1">
                <a:solidFill>
                  <a:schemeClr val="bg1"/>
                </a:solidFill>
                <a:latin typeface="Montserrat" pitchFamily="2" charset="0"/>
              </a:rPr>
              <a:t>months</a:t>
            </a:r>
            <a:r>
              <a:rPr lang="es-MX" sz="1400" dirty="0">
                <a:solidFill>
                  <a:schemeClr val="bg1"/>
                </a:solidFill>
                <a:latin typeface="Montserrat" pitchFamily="2" charset="0"/>
              </a:rPr>
              <a:t>)	</a:t>
            </a:r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23</a:t>
            </a: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  <a:p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https://cellkineticafinmod.shinyapps.io/CellKineticaFinMod/</a:t>
            </a:r>
          </a:p>
        </p:txBody>
      </p:sp>
    </p:spTree>
    <p:extLst>
      <p:ext uri="{BB962C8B-B14F-4D97-AF65-F5344CB8AC3E}">
        <p14:creationId xmlns:p14="http://schemas.microsoft.com/office/powerpoint/2010/main" val="2494249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440F06-30E2-A266-DCE8-6EAC8F52A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249388CC-F521-3CC3-B104-84E0F8A15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  <p:pic>
        <p:nvPicPr>
          <p:cNvPr id="5" name="Imagen 4" descr="Gráfico, Gráfico de líneas">
            <a:extLst>
              <a:ext uri="{FF2B5EF4-FFF2-40B4-BE49-F238E27FC236}">
                <a16:creationId xmlns:a16="http://schemas.microsoft.com/office/drawing/2014/main" id="{614C3CE1-0DB8-60B8-B6B6-678FEB0C8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56654"/>
            <a:ext cx="6624736" cy="463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09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170D0-7611-812C-D5DA-8E213B46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E498F500-6A81-5F0C-B299-670AF78D9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2A2DE6DF-E62E-EEC8-EA95-6105AFCE3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211" y="2013760"/>
            <a:ext cx="986789" cy="127638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31EDD84-CA49-392B-E971-619068A87A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834" y="2036038"/>
            <a:ext cx="986790" cy="1276392"/>
          </a:xfrm>
          <a:prstGeom prst="rect">
            <a:avLst/>
          </a:prstGeom>
        </p:spPr>
      </p:pic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DEA3375C-E72A-62F6-4036-68F704C89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458" y="2013760"/>
            <a:ext cx="986790" cy="1269492"/>
          </a:xfrm>
          <a:prstGeom prst="rect">
            <a:avLst/>
          </a:prstGeom>
        </p:spPr>
      </p:pic>
      <p:pic>
        <p:nvPicPr>
          <p:cNvPr id="14" name="Imagen 13" descr="Pantalla negra con letras blancas&#10;&#10;El contenido generado por IA puede ser incorrecto.">
            <a:extLst>
              <a:ext uri="{FF2B5EF4-FFF2-40B4-BE49-F238E27FC236}">
                <a16:creationId xmlns:a16="http://schemas.microsoft.com/office/drawing/2014/main" id="{2AE5D2D9-CE23-535F-6D33-6FCF70FF84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646" y="3496899"/>
            <a:ext cx="362115" cy="366478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A884706-804F-E438-EAA0-CC6706106119}"/>
              </a:ext>
            </a:extLst>
          </p:cNvPr>
          <p:cNvSpPr txBox="1"/>
          <p:nvPr/>
        </p:nvSpPr>
        <p:spPr>
          <a:xfrm>
            <a:off x="820684" y="3412673"/>
            <a:ext cx="17238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dirty="0" err="1">
                <a:solidFill>
                  <a:srgbClr val="0F6587"/>
                </a:solidFill>
                <a:latin typeface="Montserrat" pitchFamily="2" charset="0"/>
              </a:rPr>
              <a:t>Geneticist</a:t>
            </a:r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 / </a:t>
            </a:r>
          </a:p>
          <a:p>
            <a:pPr algn="ctr"/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performance </a:t>
            </a:r>
          </a:p>
          <a:p>
            <a:pPr algn="ctr"/>
            <a:r>
              <a:rPr lang="es-MX" sz="1400" dirty="0">
                <a:solidFill>
                  <a:srgbClr val="0F6587"/>
                </a:solidFill>
                <a:latin typeface="Montserrat" pitchFamily="2" charset="0"/>
              </a:rPr>
              <a:t>driver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8CAD526-2588-298E-3AF4-99DE85CF6B08}"/>
              </a:ext>
            </a:extLst>
          </p:cNvPr>
          <p:cNvSpPr txBox="1"/>
          <p:nvPr/>
        </p:nvSpPr>
        <p:spPr>
          <a:xfrm>
            <a:off x="3841308" y="3489270"/>
            <a:ext cx="17238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dirty="0" err="1">
                <a:solidFill>
                  <a:srgbClr val="A8518A"/>
                </a:solidFill>
                <a:latin typeface="Montserrat" pitchFamily="2" charset="0"/>
              </a:rPr>
              <a:t>Bioinformatician</a:t>
            </a:r>
            <a:endParaRPr lang="es-MX" sz="1400" dirty="0">
              <a:solidFill>
                <a:srgbClr val="A8518A"/>
              </a:solidFill>
              <a:latin typeface="Montserrat" pitchFamily="2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8977297-35CA-143A-1672-C27498E7D741}"/>
              </a:ext>
            </a:extLst>
          </p:cNvPr>
          <p:cNvSpPr txBox="1"/>
          <p:nvPr/>
        </p:nvSpPr>
        <p:spPr>
          <a:xfrm>
            <a:off x="6858429" y="3489270"/>
            <a:ext cx="17238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dirty="0" err="1">
                <a:solidFill>
                  <a:srgbClr val="86C4B9"/>
                </a:solidFill>
                <a:latin typeface="Montserrat" pitchFamily="2" charset="0"/>
              </a:rPr>
              <a:t>Developmental</a:t>
            </a:r>
            <a:r>
              <a:rPr lang="es-MX" sz="1400" dirty="0">
                <a:solidFill>
                  <a:srgbClr val="86C4B9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1400" dirty="0" err="1">
                <a:solidFill>
                  <a:srgbClr val="86C4B9"/>
                </a:solidFill>
                <a:latin typeface="Montserrat" pitchFamily="2" charset="0"/>
              </a:rPr>
              <a:t>biologist</a:t>
            </a:r>
            <a:r>
              <a:rPr lang="es-MX" sz="1400" dirty="0">
                <a:solidFill>
                  <a:srgbClr val="86C4B9"/>
                </a:solidFill>
                <a:latin typeface="Montserrat" pitchFamily="2" charset="0"/>
              </a:rPr>
              <a:t> / </a:t>
            </a:r>
          </a:p>
          <a:p>
            <a:pPr algn="ctr"/>
            <a:r>
              <a:rPr lang="es-MX" sz="1400" dirty="0">
                <a:solidFill>
                  <a:srgbClr val="86C4B9"/>
                </a:solidFill>
                <a:latin typeface="Montserrat" pitchFamily="2" charset="0"/>
              </a:rPr>
              <a:t>data </a:t>
            </a:r>
            <a:r>
              <a:rPr lang="es-MX" sz="1400" dirty="0" err="1">
                <a:solidFill>
                  <a:srgbClr val="86C4B9"/>
                </a:solidFill>
                <a:latin typeface="Montserrat" pitchFamily="2" charset="0"/>
              </a:rPr>
              <a:t>engineer</a:t>
            </a:r>
            <a:endParaRPr lang="es-MX" sz="1400" dirty="0">
              <a:solidFill>
                <a:srgbClr val="86C4B9"/>
              </a:solidFill>
              <a:latin typeface="Montserrat" pitchFamily="2" charset="0"/>
            </a:endParaRPr>
          </a:p>
        </p:txBody>
      </p:sp>
      <p:pic>
        <p:nvPicPr>
          <p:cNvPr id="19" name="Imagen 18" descr="Pantalla negra con letras blancas&#10;&#10;El contenido generado por IA puede ser incorrecto.">
            <a:extLst>
              <a:ext uri="{FF2B5EF4-FFF2-40B4-BE49-F238E27FC236}">
                <a16:creationId xmlns:a16="http://schemas.microsoft.com/office/drawing/2014/main" id="{BB3AC190-01E5-99BB-70F1-44D9687A8D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7463" y="3496899"/>
            <a:ext cx="362115" cy="366478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E66F48B4-554A-B5E1-EFE3-F6AD83CDDBDD}"/>
              </a:ext>
            </a:extLst>
          </p:cNvPr>
          <p:cNvSpPr txBox="1"/>
          <p:nvPr/>
        </p:nvSpPr>
        <p:spPr>
          <a:xfrm>
            <a:off x="2339752" y="1163674"/>
            <a:ext cx="46329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 err="1">
                <a:solidFill>
                  <a:srgbClr val="0F6587"/>
                </a:solidFill>
                <a:latin typeface="Montserrat" pitchFamily="2" charset="0"/>
              </a:rPr>
              <a:t>Team</a:t>
            </a:r>
            <a:endParaRPr lang="es-MX" sz="3200" dirty="0">
              <a:solidFill>
                <a:srgbClr val="0F6587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472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205FD-9512-7FAB-AB0C-DB4FDE78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Imagen que contiene Escala de tiempo&#10;&#10;El contenido generado por IA puede ser incorrecto.">
            <a:extLst>
              <a:ext uri="{FF2B5EF4-FFF2-40B4-BE49-F238E27FC236}">
                <a16:creationId xmlns:a16="http://schemas.microsoft.com/office/drawing/2014/main" id="{0F251414-C8B8-564A-4A42-C186030DC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144000" cy="5143501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28D798F8-FC43-9CFD-0C7D-39B896F57D06}"/>
              </a:ext>
            </a:extLst>
          </p:cNvPr>
          <p:cNvSpPr txBox="1"/>
          <p:nvPr/>
        </p:nvSpPr>
        <p:spPr>
          <a:xfrm>
            <a:off x="230273" y="2905075"/>
            <a:ext cx="2808312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Konstantin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Popadin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PhD, CEO (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Switzerland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Geneticist at Lomonosov MSU,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Harvard, EPFL. 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Successfully managed teams of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50+ researchers.</a:t>
            </a:r>
            <a:r>
              <a:rPr lang="es-MX" sz="1100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C848130-803E-A012-EBB5-52A6DCDE6073}"/>
              </a:ext>
            </a:extLst>
          </p:cNvPr>
          <p:cNvSpPr txBox="1"/>
          <p:nvPr/>
        </p:nvSpPr>
        <p:spPr>
          <a:xfrm>
            <a:off x="2339752" y="1059582"/>
            <a:ext cx="463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>
                <a:solidFill>
                  <a:srgbClr val="0F6587"/>
                </a:solidFill>
                <a:latin typeface="Montserrat" pitchFamily="2" charset="0"/>
              </a:rPr>
              <a:t>Team</a:t>
            </a:r>
            <a:endParaRPr lang="es-MX" sz="24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E567F8C-5CA5-F1C7-4DF5-25841326236E}"/>
              </a:ext>
            </a:extLst>
          </p:cNvPr>
          <p:cNvSpPr txBox="1"/>
          <p:nvPr/>
        </p:nvSpPr>
        <p:spPr>
          <a:xfrm>
            <a:off x="3158456" y="2896561"/>
            <a:ext cx="280831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Valeriia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Timonina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</a:p>
          <a:p>
            <a:pPr algn="ctr"/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Bioinformatician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 (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Switzerland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PhD - 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student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, EPFL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Human genomics data scientist.</a:t>
            </a:r>
            <a:endParaRPr lang="es-MX" sz="11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1E0831-2082-42BD-422D-1A9B474A11EB}"/>
              </a:ext>
            </a:extLst>
          </p:cNvPr>
          <p:cNvSpPr txBox="1"/>
          <p:nvPr/>
        </p:nvSpPr>
        <p:spPr>
          <a:xfrm>
            <a:off x="6086639" y="2896561"/>
            <a:ext cx="2808312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Eugenii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Tretiakov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 </a:t>
            </a: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PhD, CTO (Austria)</a:t>
            </a:r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Developmental Biologist &amp; Bio/Data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/DevOps Engineer.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8+ years building HPC clusters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&amp; pipelines.</a:t>
            </a:r>
            <a:endParaRPr lang="es-MX" sz="1100" dirty="0">
              <a:solidFill>
                <a:srgbClr val="0F6587"/>
              </a:solidFill>
              <a:latin typeface="Montserrat" pitchFamily="2" charset="0"/>
            </a:endParaRPr>
          </a:p>
        </p:txBody>
      </p:sp>
      <p:pic>
        <p:nvPicPr>
          <p:cNvPr id="6" name="Imagen 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7E53A2D6-63E1-ED04-DD40-D6B326B79B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32922"/>
            <a:ext cx="1211006" cy="1211006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3C4DDE62-1DB2-4341-2212-8AF6973C3164}"/>
              </a:ext>
            </a:extLst>
          </p:cNvPr>
          <p:cNvSpPr/>
          <p:nvPr/>
        </p:nvSpPr>
        <p:spPr>
          <a:xfrm>
            <a:off x="1115616" y="1698365"/>
            <a:ext cx="1070952" cy="1080120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5" name="Imagen 14" descr="Hombre sonriendo con lentes&#10;&#10;El contenido generado por IA puede ser incorrecto.">
            <a:extLst>
              <a:ext uri="{FF2B5EF4-FFF2-40B4-BE49-F238E27FC236}">
                <a16:creationId xmlns:a16="http://schemas.microsoft.com/office/drawing/2014/main" id="{15A29747-EBD8-712C-BAE0-9B8CEEE0AC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1641435"/>
            <a:ext cx="1211007" cy="1211007"/>
          </a:xfrm>
          <a:prstGeom prst="rect">
            <a:avLst/>
          </a:prstGeom>
        </p:spPr>
      </p:pic>
      <p:pic>
        <p:nvPicPr>
          <p:cNvPr id="22" name="Imagen 21" descr="Reflejo en el espejo de una mujer sonriendo con lentes&#10;&#10;El contenido generado por IA puede ser incorrecto.">
            <a:extLst>
              <a:ext uri="{FF2B5EF4-FFF2-40B4-BE49-F238E27FC236}">
                <a16:creationId xmlns:a16="http://schemas.microsoft.com/office/drawing/2014/main" id="{ABB94DA6-701A-6C96-0101-D2F7EA64FB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1632922"/>
            <a:ext cx="1211006" cy="121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02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DC77F-8190-38BC-37FF-B45D37E6F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Escala de tiempo">
            <a:extLst>
              <a:ext uri="{FF2B5EF4-FFF2-40B4-BE49-F238E27FC236}">
                <a16:creationId xmlns:a16="http://schemas.microsoft.com/office/drawing/2014/main" id="{B2DC8CAB-CF03-39AE-F2E2-0718E7E39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pic>
        <p:nvPicPr>
          <p:cNvPr id="6" name="Imagen 5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A7DFE2A-DE02-C403-D313-7A9A0EF549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779662"/>
            <a:ext cx="1211006" cy="121100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3BE3E93-BC36-BFF0-9FB9-7C5F78B1489C}"/>
              </a:ext>
            </a:extLst>
          </p:cNvPr>
          <p:cNvSpPr txBox="1"/>
          <p:nvPr/>
        </p:nvSpPr>
        <p:spPr>
          <a:xfrm>
            <a:off x="1786176" y="3079113"/>
            <a:ext cx="280831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Dr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Ximena Bonilla</a:t>
            </a: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Switzerland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MD PhD, Medical geneticist, Clinical-Scientific Bridge Builder. 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090BE93-CA76-2943-3549-B56B216E86ED}"/>
              </a:ext>
            </a:extLst>
          </p:cNvPr>
          <p:cNvSpPr txBox="1"/>
          <p:nvPr/>
        </p:nvSpPr>
        <p:spPr>
          <a:xfrm>
            <a:off x="4637443" y="3063724"/>
            <a:ext cx="280831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Anthony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Payot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Switzerland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Financial and operational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professional..</a:t>
            </a:r>
            <a:endParaRPr lang="es-MX" sz="11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D665F81-43A1-7C7C-9212-04F9AB5968BC}"/>
              </a:ext>
            </a:extLst>
          </p:cNvPr>
          <p:cNvSpPr txBox="1"/>
          <p:nvPr/>
        </p:nvSpPr>
        <p:spPr>
          <a:xfrm>
            <a:off x="2339752" y="1059582"/>
            <a:ext cx="463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>
                <a:solidFill>
                  <a:srgbClr val="0F6587"/>
                </a:solidFill>
                <a:latin typeface="Montserrat" pitchFamily="2" charset="0"/>
              </a:rPr>
              <a:t>Team</a:t>
            </a:r>
            <a:endParaRPr lang="es-MX" sz="2400" dirty="0">
              <a:solidFill>
                <a:srgbClr val="0F6587"/>
              </a:solidFill>
              <a:latin typeface="Montserrat" pitchFamily="2" charset="0"/>
            </a:endParaRP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22F48DD-B97B-BF6E-38E2-9ACFE68FD5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817867"/>
            <a:ext cx="1211006" cy="121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17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BF725-1D77-A0CB-F8DC-2D2EDB16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El contenido generado por IA puede ser incorrecto.">
            <a:extLst>
              <a:ext uri="{FF2B5EF4-FFF2-40B4-BE49-F238E27FC236}">
                <a16:creationId xmlns:a16="http://schemas.microsoft.com/office/drawing/2014/main" id="{B6CBCEA3-E845-32CE-890D-052AD3FF6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55A41F6-F633-9234-0E6C-917A4381409E}"/>
              </a:ext>
            </a:extLst>
          </p:cNvPr>
          <p:cNvSpPr txBox="1"/>
          <p:nvPr/>
        </p:nvSpPr>
        <p:spPr>
          <a:xfrm>
            <a:off x="2339752" y="1059582"/>
            <a:ext cx="463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 err="1">
                <a:solidFill>
                  <a:srgbClr val="0F6587"/>
                </a:solidFill>
                <a:latin typeface="Montserrat" pitchFamily="2" charset="0"/>
              </a:rPr>
              <a:t>Team</a:t>
            </a:r>
            <a:endParaRPr lang="es-MX" sz="2400" dirty="0">
              <a:solidFill>
                <a:srgbClr val="0F6587"/>
              </a:solidFill>
              <a:latin typeface="Montserrat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95C3B04-3E1E-CF62-091A-BC952334144E}"/>
              </a:ext>
            </a:extLst>
          </p:cNvPr>
          <p:cNvSpPr txBox="1"/>
          <p:nvPr/>
        </p:nvSpPr>
        <p:spPr>
          <a:xfrm>
            <a:off x="251520" y="2211710"/>
            <a:ext cx="291632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Dr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Periklis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Makrythanasis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Greece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Expert in medical genomics,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diagnostics, and family planning.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D91093-C9B5-01FA-5457-FC9E0BF167EF}"/>
              </a:ext>
            </a:extLst>
          </p:cNvPr>
          <p:cNvSpPr txBox="1"/>
          <p:nvPr/>
        </p:nvSpPr>
        <p:spPr>
          <a:xfrm>
            <a:off x="3167844" y="2224377"/>
            <a:ext cx="280831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Dr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Ilya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Volodyaev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(Israel)</a:t>
            </a:r>
          </a:p>
          <a:p>
            <a:pPr algn="ctr"/>
            <a:endParaRPr lang="es-MX" sz="12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Leading IVF embryologist. 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6A0A55-062C-7504-5FE3-5796554A5229}"/>
              </a:ext>
            </a:extLst>
          </p:cNvPr>
          <p:cNvSpPr txBox="1"/>
          <p:nvPr/>
        </p:nvSpPr>
        <p:spPr>
          <a:xfrm>
            <a:off x="6084168" y="2225523"/>
            <a:ext cx="280831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Dr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Ilya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Mazunin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</a:t>
            </a:r>
            <a:r>
              <a:rPr lang="es-MX" sz="1200" b="1" dirty="0" err="1">
                <a:solidFill>
                  <a:srgbClr val="0F6587"/>
                </a:solidFill>
                <a:latin typeface="Montserrat" pitchFamily="2" charset="0"/>
              </a:rPr>
              <a:t>Russia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)</a:t>
            </a:r>
          </a:p>
          <a:p>
            <a:pPr algn="ctr"/>
            <a:endParaRPr lang="es-MX" sz="12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Molecular biologist, IVF specialist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and genome engineer.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966C6D-DCBE-8B95-0B88-3FD1AC548973}"/>
              </a:ext>
            </a:extLst>
          </p:cNvPr>
          <p:cNvSpPr txBox="1"/>
          <p:nvPr/>
        </p:nvSpPr>
        <p:spPr>
          <a:xfrm>
            <a:off x="264116" y="3634458"/>
            <a:ext cx="280831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Prof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Andres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Salumets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(Estonia)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Founder of Celvia - growing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research-driven reproductive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medicine company.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4231D1-24BB-83A6-E117-C9E680DBA7A6}"/>
              </a:ext>
            </a:extLst>
          </p:cNvPr>
          <p:cNvSpPr txBox="1"/>
          <p:nvPr/>
        </p:nvSpPr>
        <p:spPr>
          <a:xfrm>
            <a:off x="3072428" y="3647125"/>
            <a:ext cx="291632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Prof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Konstantin</a:t>
            </a:r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Khrapko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(USA)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Leading scientist in deleterious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mutational dynamics during </a:t>
            </a: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human embryogenesis..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828986-C334-2017-CC2B-0C0842DCF494}"/>
              </a:ext>
            </a:extLst>
          </p:cNvPr>
          <p:cNvSpPr txBox="1"/>
          <p:nvPr/>
        </p:nvSpPr>
        <p:spPr>
          <a:xfrm>
            <a:off x="6096764" y="3648271"/>
            <a:ext cx="280831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rgbClr val="0F6587"/>
                </a:solidFill>
                <a:latin typeface="Montserrat" pitchFamily="2" charset="0"/>
              </a:rPr>
              <a:t>Mark </a:t>
            </a:r>
            <a:r>
              <a:rPr lang="es-MX" sz="1600" b="1" dirty="0" err="1">
                <a:solidFill>
                  <a:srgbClr val="0F6587"/>
                </a:solidFill>
                <a:latin typeface="Montserrat" pitchFamily="2" charset="0"/>
              </a:rPr>
              <a:t>Khrapko</a:t>
            </a:r>
            <a:endParaRPr lang="es-MX" sz="1600" b="1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s-MX" sz="1200" b="1" dirty="0">
                <a:solidFill>
                  <a:srgbClr val="0F6587"/>
                </a:solidFill>
                <a:latin typeface="Montserrat" pitchFamily="2" charset="0"/>
              </a:rPr>
              <a:t>(USA)</a:t>
            </a:r>
          </a:p>
          <a:p>
            <a:pPr algn="ctr"/>
            <a:endParaRPr lang="en-US" sz="1100" dirty="0">
              <a:solidFill>
                <a:srgbClr val="0F6587"/>
              </a:solidFill>
              <a:latin typeface="Montserrat" pitchFamily="2" charset="0"/>
            </a:endParaRPr>
          </a:p>
          <a:p>
            <a:pPr algn="ctr"/>
            <a:r>
              <a:rPr lang="en-US" sz="1100" dirty="0">
                <a:solidFill>
                  <a:srgbClr val="0F6587"/>
                </a:solidFill>
                <a:latin typeface="Montserrat" pitchFamily="2" charset="0"/>
              </a:rPr>
              <a:t>Strategic advisor.</a:t>
            </a:r>
          </a:p>
        </p:txBody>
      </p:sp>
    </p:spTree>
    <p:extLst>
      <p:ext uri="{BB962C8B-B14F-4D97-AF65-F5344CB8AC3E}">
        <p14:creationId xmlns:p14="http://schemas.microsoft.com/office/powerpoint/2010/main" val="27849036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9B218-9ED4-124A-D365-1A2EFA9A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4072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1163</Words>
  <Application>Microsoft Office PowerPoint</Application>
  <PresentationFormat>Presentación en pantalla (16:9)</PresentationFormat>
  <Paragraphs>271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Montserrat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Mauricio Guzmán</dc:creator>
  <cp:lastModifiedBy>Eliel Cipriano</cp:lastModifiedBy>
  <cp:revision>7</cp:revision>
  <dcterms:created xsi:type="dcterms:W3CDTF">2026-02-02T16:18:01Z</dcterms:created>
  <dcterms:modified xsi:type="dcterms:W3CDTF">2026-02-03T22:27:41Z</dcterms:modified>
</cp:coreProperties>
</file>